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Is the Latent DAG Load-Bearing?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C9D3E0"/>
                </a:solidFill>
                <a:latin typeface="Calibri"/>
              </a:defRPr>
            </a:pPr>
            <a:r>
              <a:t>An architectural + objective + identifiability investigation on the Joung TF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A93A8"/>
                </a:solidFill>
                <a:latin typeface="Calibri"/>
              </a:defRPr>
            </a:pPr>
            <a:r>
              <a:t>scCausalRL · exp20_load_bearing · shift-encoder causal-VAE world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The model &amp; the two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Shift-encoder causal-VAE (per-cell) + do-operator</a:t>
            </a:r>
          </a:p>
        </p:txBody>
      </p:sp>
      <p:pic>
        <p:nvPicPr>
          <p:cNvPr id="5" name="Picture 4" descr="m_e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17491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938528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(encoder)            (linear-Gaussian SCM)            (linear decoder)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Perturbation = mutilated do-operator (shift S from a per-TF ESM descriptor)</a:t>
            </a:r>
          </a:p>
        </p:txBody>
      </p:sp>
      <p:pic>
        <p:nvPicPr>
          <p:cNvPr id="8" name="Picture 7" descr="m_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34640"/>
            <a:ext cx="8778240" cy="13672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7490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GRN read out from the latent DAG</a:t>
            </a:r>
          </a:p>
        </p:txBody>
      </p:sp>
      <p:pic>
        <p:nvPicPr>
          <p:cNvPr id="10" name="Picture 9" descr="m_g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60520"/>
            <a:ext cx="1920240" cy="10998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0" y="1371600"/>
            <a:ext cx="5212080" cy="182880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481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Q1 — Causality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874519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000000"/>
                </a:solidFill>
                <a:latin typeface="Calibri"/>
              </a:defRPr>
            </a:pPr>
            <a:r>
              <a:t>Is A load-bearing? Does the learned latent DAG carry prediction, and is the projected GRN biologically real?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383280"/>
            <a:ext cx="5212080" cy="1828800"/>
          </a:xfrm>
          <a:prstGeom prst="roundRect">
            <a:avLst/>
          </a:prstGeom>
          <a:solidFill>
            <a:srgbClr val="FBEC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34930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392B"/>
                </a:solidFill>
                <a:latin typeface="Calibri"/>
              </a:defRPr>
            </a:pPr>
            <a:r>
              <a:t>Q2 —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886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000000"/>
                </a:solidFill>
                <a:latin typeface="Calibri"/>
              </a:defRPr>
            </a:pPr>
            <a:r>
              <a:t>Can it predict a HELD-OUT TF’s effect zero-shot (unseen perturbation), from protein sequence alone?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46320"/>
            <a:ext cx="11338560" cy="1371600"/>
          </a:xfrm>
          <a:prstGeom prst="roundRect">
            <a:avLst/>
          </a:prstGeom>
          <a:solidFill>
            <a:srgbClr val="F5F5EA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983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Prior finding (27-run exp19 sweep): A is INERT and discrimination is WEAK. exp20 attacks both at the ARCHITECTURE + OBJECTIVE level (not loss tuning), retires the CollecTRI prior, and closes with a synthetic ground-truth identifiability test.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Eval is always ZERO-SHOT on held-out TF genes (gene-level split); metrics are drift-removed.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Two failure modes — and the escape hatches that cause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5623560" cy="493776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A inert  (identifiability)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A=0 stays optimal: a per-cell ε reconstructs each cell, so A carries nothing.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DECODER ABSORPTION — the linear decoder can absorb the SCM operator: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   (see equation) → for ANY A there is a D giving identical predictions.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A dense learned shift reproduces the propagated effect directly ⇒ A never needed.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Consequence: A_gap ≈ 0; the "GRN" is decoder co-expression, not causal.</a:t>
            </a:r>
          </a:p>
        </p:txBody>
      </p:sp>
      <p:pic>
        <p:nvPicPr>
          <p:cNvPr id="7" name="Picture 6" descr="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77639"/>
            <a:ext cx="4754880" cy="145958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005840"/>
            <a:ext cx="5623560" cy="4937760"/>
          </a:xfrm>
          <a:prstGeom prst="roundRect">
            <a:avLst/>
          </a:prstGeom>
          <a:solidFill>
            <a:srgbClr val="FBEC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43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Discrimination weak  (mode collapse)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Joung Δ is ~99% a shared differentiation program (one dominant mode).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The model predicts that shared program scaled by a single magnitude scalar.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Per-TF predictions become ~identical  →  crossTF_div ≈ 0.02.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Zero-shot on unseen TFs: the ESM→effect map does not transfer at ~5% SNR.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Consequence: discrimination pinned near chance (0.5).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These are SEPARATE problems: #1 is architecture/identifiability; #2 is objective + data SNR.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 · What we changed — the ablation catalog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75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537960"/>
                <a:gridCol w="2651760"/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 / arm</a:t>
                      </a:r>
                    </a:p>
                  </a:txBody>
                  <a:tcPr marT="12700" marB="127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changes</a:t>
                      </a:r>
                    </a:p>
                  </a:txBody>
                  <a:tcPr marT="12700" marB="127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Targets</a:t>
                      </a:r>
                    </a:p>
                  </a:txBody>
                  <a:tcPr marT="12700" marB="127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Fix 1 · structural do-op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single mutilated solve, S into exogenous noise (no z-target leak)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 inert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Fix 2 · sparse L0 gate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2nd ESM head gates programs; L0 on gate existence (soft→hard)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 inert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prior OFF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remove CollecTRI margin loss (was memorized into G)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honest GRN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 GO+PCA decoder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 fixed to GO:BP membership + PCA cols (requires_grad=False)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absorption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whitened pert target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MSE on drift-removed + per-gene z-scored residual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 collapse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 3-phase L0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decouple gate-closing from A-learning (A competent first)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gate-vs-A race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SCM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z=tanh(Aᵀz)+ε via Picard; Jacobian GRN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 expressiveness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hard self-gate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shift restricted to gene g’s own top-k decoder programs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localization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multi-context (+Norman)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2nd cell context via modality token; ESM bridge; shared held-out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generalization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37760"/>
            <a:ext cx="2651760" cy="1215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50749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66666"/>
                </a:solidFill>
                <a:latin typeface="Calibri"/>
              </a:defRPr>
            </a:pPr>
            <a:r>
              <a:t>— penalize gate EXISTENCE (L0), not magnitude (L1)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~30 arms across grids x20 (prior-on), x20po (prior-off), x20arch, x20R (objective), x20frz (frozen), + synthetic.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 · Metrics &amp; methodology (one eval script for every arm)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Prediction — zero-shot held-out TFs, drift-removed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disc_resid = drift-removed discrimination_cos (does pred_i retrieve obs_i vs other TFs; chance 0.5)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train vs held-out disc = overfitting / generalization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Causality — A load-bearing (real vs zero vs shuffled A)</a:t>
            </a:r>
          </a:p>
        </p:txBody>
      </p:sp>
      <p:pic>
        <p:nvPicPr>
          <p:cNvPr id="7" name="Picture 6" descr="a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63240"/>
            <a:ext cx="7863840" cy="12561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749039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probe_A = 1−cos(Δ, Δ|A=0)  — does removing A change the output (A used?)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probe_Dperm = 1−cos(Δ, Δ|D shuffled)  — decoder dominance;   crossTF_div — pred diversity (mode collapse)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Biology (prior-free) — projected GRN vs known networks, with shuffle-A / random-D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CollecTRI / DoRothEA AUROC  +  fetal-atlas fate-hierarchy AUROC (same-fate TF pairs)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All arms evaluated on the FINAL epoch-60 checkpoint (not best-by-val-loss).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 · Perturbation prediction — nothing beats the prior-off ceiling</a:t>
            </a:r>
          </a:p>
        </p:txBody>
      </p:sp>
      <p:pic>
        <p:nvPicPr>
          <p:cNvPr id="4" name="Picture 3" descr="fig1_predictio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9412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Best = prior-off sparse_con 0.639 ≈ exp19 epsmix ceiling 0.647.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Turning the CollecTRI PRIOR OFF is the only change that helped (+0.05).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whiten / resid / all / frozen arms COLLAPSE to chance (0.50).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staged-L0 and nonlinear-SCM are flat-to-worse.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Net: no architectural/objective fix beat a simple prior-off shift+decoder.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Held-out zero-shot TFs; disc_resid, chance 0.5, exp19 ceiling 0.647.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 · Causality — A is not load-bearing</a:t>
            </a:r>
          </a:p>
        </p:txBody>
      </p:sp>
      <p:pic>
        <p:nvPicPr>
          <p:cNvPr id="4" name="Picture 3" descr="fig2_causality_A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43966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real-A ≈ zero-A ≈ shuffled-A on drift-removed prediction; A_gap ≈ 0 for every prior-off arm (±0.05). Removing or shuffling A barely changes the match — A carries no predictive causal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 · Mechanism — decoder absorbs the operator; predictions collapse</a:t>
            </a:r>
          </a:p>
        </p:txBody>
      </p:sp>
      <p:pic>
        <p:nvPicPr>
          <p:cNvPr id="4" name="Picture 3" descr="fig3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923146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Why A is redundant</a:t>
            </a:r>
          </a:p>
        </p:txBody>
      </p:sp>
      <p:pic>
        <p:nvPicPr>
          <p:cNvPr id="6" name="Picture 5" descr="absor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645920"/>
            <a:ext cx="1828800" cy="12304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228600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probe_Dperm ≈ 1.0: shuffling D destroys the output → D carries the gene pattern.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probe_A ≤ 0.16 (soft gate): A a minor add-on.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crossTF_div ≈ 0.02: ~99% identical predictions across TFs = mode collapse.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A single scalar shift_scale absorbs 27–47% of the pert-loss gradient.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The shift is load-bearing for MAGNITUDE, not identity; the decoder carries the gene-space pattern.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9 · Biology — the projected GRN is prior memorization</a:t>
            </a:r>
          </a:p>
        </p:txBody>
      </p:sp>
      <p:pic>
        <p:nvPicPr>
          <p:cNvPr id="4" name="Picture 3" descr="fig4_biology_g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923146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37160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CollecTRI AUROC 0.98 (prior ON) → 0.57 (prior OFF) = co-expression floor.</a:t>
            </a:r>
          </a:p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Shuffling A does NOT drop it → the signal lives in the decoder (D·Dᵀ), not A.</a:t>
            </a:r>
          </a:p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Fetal-atlas FATE hierarchy: AUROC 0.51 = chance → no developmental structure.</a:t>
            </a:r>
          </a:p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random-D → chance confirms D carries the (co-expression)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Prior-free GRN validation: neither TF→target edges nor developmental hierarchy are recovered from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10 · Objective sweep — break mode collapse, but not generalization</a:t>
            </a:r>
          </a:p>
        </p:txBody>
      </p:sp>
      <p:pic>
        <p:nvPicPr>
          <p:cNvPr id="4" name="Picture 3" descr="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863840" cy="14100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600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666666"/>
                </a:solidFill>
                <a:latin typeface="Calibri"/>
              </a:defRPr>
            </a:pPr>
            <a:r>
              <a:t>Lever A: pseudobulk per-TF target (SNR).   Lever B: project the shared direction out of the loss.</a:t>
            </a:r>
          </a:p>
        </p:txBody>
      </p:sp>
      <p:pic>
        <p:nvPicPr>
          <p:cNvPr id="6" name="Picture 5" descr="fig5_R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0"/>
            <a:ext cx="11247120" cy="4498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A1A2E"/>
                </a:solidFill>
                <a:latin typeface="Calibri"/>
              </a:defRPr>
            </a:pPr>
            <a:r>
              <a:t>• Pseudobulk (Lever A) lifts crossTF_div 0.03→0.2 and probe_A→0.9 (A engaged) — but disc stays at chance: diverse-but-WRONG. Project-out alone (R3) does nothing. The binding constraint is zero-shot generalization.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11 · Generalization is the wall — memorize seen, fail unseen</a:t>
            </a:r>
          </a:p>
        </p:txBody>
      </p:sp>
      <p:pic>
        <p:nvPicPr>
          <p:cNvPr id="4" name="Picture 3" descr="fig6_train_vs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94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46304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sparse_con: TRAIN disc 0.93 → held-out 0.62 (+0.31 gap).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On seen TFs the model discriminates almost perfectly; it just does not transfer.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Shift ‖S‖ stays full-magnitude on unseen TFs → confidently WRONG direction (not mean-regression).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pseudobulk arms fit train worse (0.56) and still fail held-out.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The failure is zero-shot generalization of the TF→effect map — not fitting capacity.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12 · Synthetic control — method sound, A non-identifiable</a:t>
            </a:r>
          </a:p>
        </p:txBody>
      </p:sp>
      <p:pic>
        <p:nvPicPr>
          <p:cNvPr id="4" name="Picture 3" descr="sy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486400" cy="1480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0515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66666"/>
                </a:solidFill>
                <a:latin typeface="Calibri"/>
              </a:defRPr>
            </a:pPr>
            <a:r>
              <a:t>planted A*, sparse shift LINEAR in the descriptor (generalizable)</a:t>
            </a:r>
          </a:p>
        </p:txBody>
      </p:sp>
      <p:pic>
        <p:nvPicPr>
          <p:cNvPr id="6" name="Picture 5" descr="fig7_synthe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498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A1A2E"/>
                </a:solidFill>
                <a:latin typeface="Calibri"/>
              </a:defRPr>
            </a:pPr>
            <a:r>
              <a:t>• Planted A*/D*/generalizable shift: the shift-encoder GENERALIZES (disc 0.66; perturbation-blind localization → 0.90) but graph-recovery AUROC stays at CHANCE (~0.5) — A is non-identifiable (shift+decoder are a sufficient statistic).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13 · Master results (representative arms, prior-off)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75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651760"/>
                <a:gridCol w="1554480"/>
                <a:gridCol w="1280160"/>
                <a:gridCol w="1234440"/>
                <a:gridCol w="2743200"/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disc_resid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S_Agap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crossTF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sparse_con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 (best)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0.639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−0.05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ceiling; A idle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sparse_pertonly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0.621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−0.03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staged_con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 L0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0.611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−0.05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gain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nonlinSCM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SCM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0.570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worse; A anti-useful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staged_esm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 L0 (no-con)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0.553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rescue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pseudobulk+proj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0.502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+0.03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collapse; crossTF↑ probeA↑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whiten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whitened target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+0.06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 to chance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frozenD64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 decoder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 (basis span)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frozenD64_nonlin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 + nonlinear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+0.01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4709160"/>
            <a:ext cx="11475720" cy="1463040"/>
          </a:xfrm>
          <a:prstGeom prst="roundRect">
            <a:avLst/>
          </a:prstGeom>
          <a:solidFill>
            <a:srgbClr val="F5F5EA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8463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A1A2E"/>
                </a:solidFill>
                <a:latin typeface="Calibri"/>
              </a:defRPr>
            </a:pPr>
            <a:r>
              <a:t>Reference: exp19 best (epsmix, prior-on) disc_resid 0.647 · Joung split-half discriminability ceiling ≈ 5% · CollecTRI prior-on 0.97 → prior-off 0.57 (memorization). A is used-but-not-useful wherever the gate opens; no arm both discriminates AND uses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Full 22-arm table in docs/MASTER_ALL.md; figures in docs/figures/.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14 · Verdict &amp; the two real levers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1554480"/>
          </a:xfrm>
          <a:prstGeom prst="roundRect">
            <a:avLst/>
          </a:prstGeom>
          <a:solidFill>
            <a:srgbClr val="ECF7EC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46014"/>
                </a:solidFill>
                <a:latin typeface="Calibri"/>
              </a:defRPr>
            </a:pPr>
            <a:r>
              <a:t>CONCLUSION — The architecture is sound (it generalizes on ideal synthetic data). On Joung the binding constraint is ZERO-SHOT GENERALIZATION of the TF→effect map (models memorize seen TFs, disc 0.93→0.62). And A is NON-IDENTIFIABLE / redundant in this shift-based class — even with a planted graph — because the shift + decoder are a sufficient statistic.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Two levers (neither is "more SCM machinery on Joung")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246120"/>
            <a:ext cx="5623560" cy="246888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A · Multi-context (Norman)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Add K562 CRISPRa as a 2nd context (modality token + ESM bridge).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Lets the model separate context-shared from TF-specific signal.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Directly targets the generalization ceiling. (JN0/JN1 in flight.)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46120"/>
            <a:ext cx="5623560" cy="2468880"/>
          </a:xfrm>
          <a:prstGeom prst="roundRect">
            <a:avLst/>
          </a:prstGeom>
          <a:solidFill>
            <a:srgbClr val="F3ECFB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B3FA0"/>
                </a:solidFill>
                <a:latin typeface="Calibri"/>
              </a:defRPr>
            </a:pPr>
            <a:r>
              <a:t>B · Different identification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404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Load-bearing A needs a setup where the shift CANNOT express propagation.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e.g. fit A to the interventional DISTRIBUTION (discrepancy-VAE).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Hard self-gate localization + frozen decoder tested; still redundant.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In flight: J1/J2 (hard self-gate localization) + JN0/JN1 (Joung+Norman multi-context, 43 shared TFs).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