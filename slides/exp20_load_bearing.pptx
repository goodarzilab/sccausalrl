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 i="0">
                <a:solidFill>
                  <a:srgbClr val="FFFFFF"/>
                </a:solidFill>
                <a:latin typeface="Calibri"/>
              </a:defRPr>
            </a:pPr>
            <a:r>
              <a:t>Is the Latent DAG Load-Bearing?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 i="0">
                <a:solidFill>
                  <a:srgbClr val="C9D3E0"/>
                </a:solidFill>
                <a:latin typeface="Calibri"/>
              </a:defRPr>
            </a:pPr>
            <a:r>
              <a:t>An architectural + objective + identifiability investigation on the Joung TF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8A93A8"/>
                </a:solidFill>
                <a:latin typeface="Calibri"/>
              </a:defRPr>
            </a:pPr>
            <a:r>
              <a:t>scCausalRL · exp20_load_bearing · shift-encoder causal-VAE world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 · The model &amp; the two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Shift-encoder causal-VAE (per-cell) + do-operator</a:t>
            </a:r>
          </a:p>
        </p:txBody>
      </p:sp>
      <p:pic>
        <p:nvPicPr>
          <p:cNvPr id="5" name="Picture 4" descr="m_e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949440" cy="17491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938528"/>
            <a:ext cx="6766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666666"/>
                </a:solidFill>
                <a:latin typeface="Calibri"/>
              </a:defRPr>
            </a:pPr>
            <a:r>
              <a:t>(encoder)            (linear-Gaussian SCM)            (linear decoder)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377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Perturbation = mutilated do-operator (shift S from a per-TF ESM descriptor)</a:t>
            </a:r>
          </a:p>
        </p:txBody>
      </p:sp>
      <p:pic>
        <p:nvPicPr>
          <p:cNvPr id="8" name="Picture 7" descr="m_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34640"/>
            <a:ext cx="8778240" cy="13672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749039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GRN read out from the latent DAG</a:t>
            </a:r>
          </a:p>
        </p:txBody>
      </p:sp>
      <p:pic>
        <p:nvPicPr>
          <p:cNvPr id="10" name="Picture 9" descr="m_g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60520"/>
            <a:ext cx="1920240" cy="109982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583680" y="1371600"/>
            <a:ext cx="5212080" cy="182880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48132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Q1 — Causality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874519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000000"/>
                </a:solidFill>
                <a:latin typeface="Calibri"/>
              </a:defRPr>
            </a:pPr>
            <a:r>
              <a:t>Is A load-bearing? Does the learned latent DAG carry prediction, and is the projected GRN biologically real?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383280"/>
            <a:ext cx="5212080" cy="1828800"/>
          </a:xfrm>
          <a:prstGeom prst="roundRect">
            <a:avLst/>
          </a:prstGeom>
          <a:solidFill>
            <a:srgbClr val="FBEC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3493008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392B"/>
                </a:solidFill>
                <a:latin typeface="Calibri"/>
              </a:defRPr>
            </a:pPr>
            <a:r>
              <a:t>Q2 — Prediction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88620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000000"/>
                </a:solidFill>
                <a:latin typeface="Calibri"/>
              </a:defRPr>
            </a:pPr>
            <a:r>
              <a:t>Can it predict a HELD-OUT TF’s effect zero-shot (unseen perturbation), from protein sequence alone?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846320"/>
            <a:ext cx="11338560" cy="1371600"/>
          </a:xfrm>
          <a:prstGeom prst="roundRect">
            <a:avLst/>
          </a:prstGeom>
          <a:solidFill>
            <a:srgbClr val="F5F5EA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983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Prior finding (27-run exp19 sweep): A is INERT and discrimination is WEAK. exp20 attacks both at the ARCHITECTURE + OBJECTIVE level (not loss tuning), retires the CollecTRI prior, and closes with a synthetic ground-truth identifiability test.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Eval is always ZERO-SHOT on held-out TF genes (gene-level split); metrics are drift-removed.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 · Two failure modes — and the escape hatches that cause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5623560" cy="493776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A inert  (identifiability)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A=0 stays optimal: a per-cell ε reconstructs each cell, so A carries nothing.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DECODER ABSORPTION — the linear decoder can absorb the SCM operator: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   (see equation) → for ANY A there is a D giving identical predictions.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A dense learned shift reproduces the propagated effect directly ⇒ A never needed.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Consequence: A_gap ≈ 0; the "GRN" is decoder co-expression, not causal.</a:t>
            </a:r>
          </a:p>
        </p:txBody>
      </p:sp>
      <p:pic>
        <p:nvPicPr>
          <p:cNvPr id="7" name="Picture 6" descr="absor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977639"/>
            <a:ext cx="4754880" cy="145958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72200" y="1005840"/>
            <a:ext cx="5623560" cy="4937760"/>
          </a:xfrm>
          <a:prstGeom prst="roundRect">
            <a:avLst/>
          </a:prstGeom>
          <a:solidFill>
            <a:srgbClr val="FBECEC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1430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Discrimination weak  (mode collapse)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6002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Joung Δ is ~99% a shared differentiation program (one dominant mode).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The model predicts that shared program scaled by a single magnitude scalar.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Per-TF predictions become ~identical  →  crossTF_div ≈ 0.02.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Zero-shot on unseen TFs: the ESM→effect map does not transfer at ~5% SNR.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Consequence: discrimination pinned near chance (0.5).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These are SEPARATE problems: #1 is architecture/identifiability; #2 is objective + data SNR.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 · What we changed — ablations &amp; the runs (all PRIOR-OFF)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14400"/>
          <a:ext cx="1147572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6492240"/>
                <a:gridCol w="2651760"/>
              </a:tblGrid>
              <a:tr h="2743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 (ingredient)</a:t>
                      </a:r>
                    </a:p>
                  </a:txBody>
                  <a:tcPr marT="12700" marB="127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it changes</a:t>
                      </a:r>
                    </a:p>
                  </a:txBody>
                  <a:tcPr marT="12700" marB="12700">
                    <a:solidFill>
                      <a:srgbClr val="0B3D9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Targets</a:t>
                      </a:r>
                    </a:p>
                  </a:txBody>
                  <a:tcPr marT="12700" marB="12700">
                    <a:solidFill>
                      <a:srgbClr val="0B3D9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Fix 1 · structural do-op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single mutilated solve, S into exogenous noise (no z-target leak)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 inert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Fix 2 · sparse L0 gate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2nd ESM head gates programs; L0 on gate existence (soft to hard)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 inert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 GO+PCA decoder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 fixed to GO:BP membership + PCA cols (requires_grad=False)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absorption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whitened pert target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MSE on drift-removed + per-gene z-scored residual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mode collapse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pseudobulk target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per-TF population-mean delta instead of noisy per-cell mean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SNR / collapse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project-out shared dir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remove the drift-direction component of the error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shared handling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 3-phase L0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decouple gate-closing from A-learning (A competent first)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gate-vs-A race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SCM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z=tanh(A^T z)+eps via Picard; Jacobian GRN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 expressiveness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hard self-gate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shift restricted to gene g own top-k decoder programs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localization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multi-context (+Norman)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2nd cell context via modality token; ESM bridge; shared held-out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generalization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4389120"/>
            <a:ext cx="11475720" cy="1874519"/>
          </a:xfrm>
          <a:prstGeom prst="roundRect">
            <a:avLst/>
          </a:prstGeom>
          <a:solidFill>
            <a:srgbClr val="F3F6FC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3D91"/>
                </a:solidFill>
                <a:latin typeface="Calibri"/>
              </a:defRPr>
            </a:pPr>
            <a:r>
              <a:t>The runs  (recipe -&gt; name)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Base arms (grid x20po):  min_esm = Fix1 only  .  sparse_esm = +Fix2 gate  .  sparse_con = +InfoNCE contrastive  .  sparse_resid = +drift-removed target  .  sparse_pertonly = +down-weighted recon  .  sparse_residrecon = +residual recon  .  sparse_all = all</a:t>
            </a:r>
          </a:p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Objective sweep (grid x20R, on sparse_con base):  R1 per-example  .  R2 pseudobulk  .  R3 project-out  .  R4 pseudobulk+project  .  R5 = R4 + contrastive x10  .  R6 = R4 + energy/MMD</a:t>
            </a:r>
          </a:p>
          <a:p>
            <a:pPr>
              <a:spcAft>
                <a:spcPts val="500"/>
              </a:spcAft>
              <a:defRPr sz="1150">
                <a:solidFill>
                  <a:srgbClr val="000000"/>
                </a:solidFill>
                <a:latin typeface="Calibri"/>
              </a:defRPr>
            </a:pPr>
            <a:r>
              <a:t>• Architecture (x20arch / x20frz):  staged_esm, staged_con (staged L0)  .  whiten  .  nonlinSCM  .  frozenD64 (+nonlin / +whiten)   .   In flight: J1/J2 (hard self-gate), JN0/JN1 (Joung+Norman)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Grids: x20po (prior-off base) . x20R (objective) . x20arch/x20frz (architecture) . synthetic (identifiability). Prior-ON x20 kept only as the GRN memorization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 · Metrics &amp; methodology (one eval script for every arm)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Prediction — zero-shot held-out TFs, drift-removed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disc_resid = drift-removed discrimination_cos (does pred_i retrieve obs_i vs other TFs; chance 0.5)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train vs held-out disc = overfitting / generalization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Causality — A load-bearing (real vs zero vs shuffled A)</a:t>
            </a:r>
          </a:p>
        </p:txBody>
      </p:sp>
      <p:pic>
        <p:nvPicPr>
          <p:cNvPr id="7" name="Picture 6" descr="a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63240"/>
            <a:ext cx="7863840" cy="12561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749039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probe_A = 1−cos(Δ, Δ|A=0)  — does removing A change the output (A used?)</a:t>
            </a:r>
          </a:p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probe_Dperm = 1−cos(Δ, Δ|D shuffled)  — decoder dominance;   crossTF_div — pred diversity (mode collapse)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Biology (prior-free) — projected GRN vs known networks, with shuffle-A / random-D controls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492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000000"/>
                </a:solidFill>
                <a:latin typeface="Calibri"/>
              </a:defRPr>
            </a:pPr>
            <a:r>
              <a:t>• CollecTRI / DoRothEA AUROC  +  fetal-atlas fate-hierarchy AUROC (same-fate TF pairs)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All arms evaluated on the FINAL epoch-60 checkpoint (not best-by-val-loss).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 · Metric definitions &amp; chance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Calibri"/>
              </a:defRPr>
            </a:pPr>
            <a:r>
              <a:t>c(a,b) = mean-centered cosine.   r̂=pred−drift, r=obs−drift.   Δ̂(A)=do-op prediction under adjacency A  (A=0 zeroed, Aπ column-shuffled).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C0392B"/>
                </a:solidFill>
                <a:latin typeface="Calibri"/>
              </a:defRPr>
            </a:pPr>
            <a:r>
              <a:t>Prediction   (chance 0.5)</a:t>
            </a:r>
          </a:p>
        </p:txBody>
      </p:sp>
      <p:pic>
        <p:nvPicPr>
          <p:cNvPr id="6" name="Picture 5" descr="d_di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577840" cy="1420188"/>
          </a:xfrm>
          <a:prstGeom prst="rect">
            <a:avLst/>
          </a:prstGeom>
        </p:spPr>
      </p:pic>
      <p:pic>
        <p:nvPicPr>
          <p:cNvPr id="7" name="Picture 6" descr="d_p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68880"/>
            <a:ext cx="3200400" cy="11647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154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Causality — is A load-bearing?</a:t>
            </a:r>
          </a:p>
        </p:txBody>
      </p:sp>
      <p:pic>
        <p:nvPicPr>
          <p:cNvPr id="9" name="Picture 8" descr="d_ag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66160"/>
            <a:ext cx="6126480" cy="1680824"/>
          </a:xfrm>
          <a:prstGeom prst="rect">
            <a:avLst/>
          </a:prstGeom>
        </p:spPr>
      </p:pic>
      <p:pic>
        <p:nvPicPr>
          <p:cNvPr id="10" name="Picture 9" descr="d_prob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572000"/>
            <a:ext cx="5120640" cy="143744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B3FA0"/>
                </a:solidFill>
                <a:latin typeface="Calibri"/>
              </a:defRPr>
            </a:pPr>
            <a:r>
              <a:t>Mechanism</a:t>
            </a:r>
          </a:p>
        </p:txBody>
      </p:sp>
      <p:pic>
        <p:nvPicPr>
          <p:cNvPr id="12" name="Picture 11" descr="d_dper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0" y="1737360"/>
            <a:ext cx="5212080" cy="1369072"/>
          </a:xfrm>
          <a:prstGeom prst="rect">
            <a:avLst/>
          </a:prstGeom>
        </p:spPr>
      </p:pic>
      <p:pic>
        <p:nvPicPr>
          <p:cNvPr id="13" name="Picture 12" descr="d_cros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0" y="2468880"/>
            <a:ext cx="4754880" cy="13630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46520" y="3154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7AE60"/>
                </a:solidFill>
                <a:latin typeface="Calibri"/>
              </a:defRPr>
            </a:pPr>
            <a:r>
              <a:t>Biology  (AUROC, prior-free)</a:t>
            </a:r>
          </a:p>
        </p:txBody>
      </p:sp>
      <p:pic>
        <p:nvPicPr>
          <p:cNvPr id="15" name="Picture 14" descr="d_gr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3566160"/>
            <a:ext cx="5394960" cy="1529779"/>
          </a:xfrm>
          <a:prstGeom prst="rect">
            <a:avLst/>
          </a:prstGeom>
        </p:spPr>
      </p:pic>
      <p:pic>
        <p:nvPicPr>
          <p:cNvPr id="16" name="Picture 15" descr="d_fa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4114800"/>
            <a:ext cx="5120640" cy="1528954"/>
          </a:xfrm>
          <a:prstGeom prst="rect">
            <a:avLst/>
          </a:prstGeom>
        </p:spPr>
      </p:pic>
      <p:pic>
        <p:nvPicPr>
          <p:cNvPr id="17" name="Picture 16" descr="d_grap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4663440"/>
            <a:ext cx="5120640" cy="1505023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457200" y="5440680"/>
            <a:ext cx="11338560" cy="960120"/>
          </a:xfrm>
          <a:prstGeom prst="roundRect">
            <a:avLst/>
          </a:prstGeom>
          <a:solidFill>
            <a:srgbClr val="F5F5EA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532120"/>
            <a:ext cx="10972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 i="0">
                <a:solidFill>
                  <a:srgbClr val="1A1A2E"/>
                </a:solidFill>
                <a:latin typeface="Calibri"/>
              </a:defRPr>
            </a:pPr>
            <a:r>
              <a:t>KEY DISTINCTION: probe_A = “A is USED” (output changes if A removed);  S_Agap = “A is USEFUL” (drift-removed prediction improves). Finding: probe_A can be 0.8 while S_Agap≈0 — used, not useful.   Note: grn_dag_sweep’s “disc” column = retrieval-top-1 (chance 1/T≈0.006), NOT disc_resid (chance 0.5).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 · Perturbation prediction — nothing beats the prior-off ceiling</a:t>
            </a:r>
          </a:p>
        </p:txBody>
      </p:sp>
      <p:pic>
        <p:nvPicPr>
          <p:cNvPr id="4" name="Picture 3" descr="fig1_predictio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9412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37160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Best = prior-off sparse_con 0.639 ≈ exp19 epsmix ceiling 0.647.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Turning the CollecTRI PRIOR OFF is the only change that helped (+0.05).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whiten / resid / all / frozen arms COLLAPSE to chance (0.50).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staged-L0 and nonlinear-SCM are flat-to-worse.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Net: no architectural/objective fix beat a simple prior-off shift+decoder.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Held-out zero-shot TFs; disc_resid, chance 0.5, exp19 ceiling 0.647.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8 · Causality — A is not load-bearing</a:t>
            </a:r>
          </a:p>
        </p:txBody>
      </p:sp>
      <p:pic>
        <p:nvPicPr>
          <p:cNvPr id="4" name="Picture 3" descr="fig2_causality_A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43966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669280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real-A ≈ zero-A ≈ shuffled-A on drift-removed prediction; A_gap ≈ 0 for every prior-off arm (±0.05). Removing or shuffling A barely changes the match — A carries no predictive causal structure.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9 · Mechanism — decoder absorbs the operator; predictions collapse</a:t>
            </a:r>
          </a:p>
        </p:txBody>
      </p:sp>
      <p:pic>
        <p:nvPicPr>
          <p:cNvPr id="4" name="Picture 3" descr="fig3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923146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18872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Why A is redundant</a:t>
            </a:r>
          </a:p>
        </p:txBody>
      </p:sp>
      <p:pic>
        <p:nvPicPr>
          <p:cNvPr id="6" name="Picture 5" descr="absor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645920"/>
            <a:ext cx="1828800" cy="12304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2286000"/>
            <a:ext cx="374903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probe_Dperm ≈ 1.0: shuffling D destroys the output → D carries the gene pattern.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probe_A ≤ 0.16 (soft gate): A a minor add-on.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crossTF_div ≈ 0.02: ~99% identical predictions across TFs = mode collapse.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• A single scalar shift_scale absorbs 27–47% of the pert-loss gradient.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The shift is load-bearing for MAGNITUDE, not identity; the decoder carries the gene-space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10 · Biology — the projected GRN is prior memorization</a:t>
            </a:r>
          </a:p>
        </p:txBody>
      </p:sp>
      <p:pic>
        <p:nvPicPr>
          <p:cNvPr id="4" name="Picture 3" descr="fig4_biology_g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923146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371600"/>
            <a:ext cx="374903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CollecTRI AUROC 0.98 (prior ON) → 0.57 (prior OFF) = co-expression floor.</a:t>
            </a:r>
          </a:p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Shuffling A does NOT drop it → the signal lives in the decoder (D·Dᵀ), not A.</a:t>
            </a:r>
          </a:p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Fetal-atlas FATE hierarchy: AUROC 0.51 = chance → no developmental structure.</a:t>
            </a:r>
          </a:p>
          <a:p>
            <a:pPr>
              <a:spcAft>
                <a:spcPts val="600"/>
              </a:spcAft>
              <a:defRPr sz="1350">
                <a:solidFill>
                  <a:srgbClr val="1A1A2E"/>
                </a:solidFill>
                <a:latin typeface="Calibri"/>
              </a:defRPr>
            </a:pPr>
            <a:r>
              <a:t>• random-D → chance confirms D carries the (co-expression)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Prior-free GRN validation: neither TF→target edges nor developmental hierarchy are recovered from data.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11 · Objective sweep — break mode collapse, but not generalization</a:t>
            </a:r>
          </a:p>
        </p:txBody>
      </p:sp>
      <p:pic>
        <p:nvPicPr>
          <p:cNvPr id="4" name="Picture 3" descr="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7863840" cy="14100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16002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666666"/>
                </a:solidFill>
                <a:latin typeface="Calibri"/>
              </a:defRPr>
            </a:pPr>
            <a:r>
              <a:t>Lever A: pseudobulk per-TF target (SNR).   Lever B: project the shared direction out of the loss.</a:t>
            </a:r>
          </a:p>
        </p:txBody>
      </p:sp>
      <p:pic>
        <p:nvPicPr>
          <p:cNvPr id="6" name="Picture 5" descr="fig5_R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011680"/>
            <a:ext cx="11247120" cy="4498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A1A2E"/>
                </a:solidFill>
                <a:latin typeface="Calibri"/>
              </a:defRPr>
            </a:pPr>
            <a:r>
              <a:t>• Pseudobulk (Lever A) lifts crossTF_div 0.03→0.2 and probe_A→0.9 (A engaged) — but disc stays at chance: diverse-but-WRONG. Project-out alone (R3) does nothing. The binding constraint is zero-shot generalization.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12 · Generalization is the wall — memorize seen, fail unseen</a:t>
            </a:r>
          </a:p>
        </p:txBody>
      </p:sp>
      <p:pic>
        <p:nvPicPr>
          <p:cNvPr id="4" name="Picture 3" descr="fig6_train_vs_held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894080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463040"/>
            <a:ext cx="4206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sparse_con: TRAIN disc 0.93 → held-out 0.62 (+0.31 gap).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On seen TFs the model discriminates almost perfectly; it just does not transfer.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Shift ‖S‖ stays full-magnitude on unseen TFs → confidently WRONG direction (not mean-regression).</a:t>
            </a:r>
          </a:p>
          <a:p>
            <a:pPr>
              <a:spcAft>
                <a:spcPts val="6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• pseudobulk arms fit train worse (0.56) and still fail held-out.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The failure is zero-shot generalization of the TF→effect map — not fitting capacity.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13 · Synthetic control — method sound, A non-identifiable</a:t>
            </a:r>
          </a:p>
        </p:txBody>
      </p:sp>
      <p:pic>
        <p:nvPicPr>
          <p:cNvPr id="4" name="Picture 3" descr="sy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5486400" cy="148045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217920" y="10515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666666"/>
                </a:solidFill>
                <a:latin typeface="Calibri"/>
              </a:defRPr>
            </a:pPr>
            <a:r>
              <a:t>planted A*, sparse shift LINEAR in the descriptor (generalizable)</a:t>
            </a:r>
          </a:p>
        </p:txBody>
      </p:sp>
      <p:pic>
        <p:nvPicPr>
          <p:cNvPr id="6" name="Picture 5" descr="fig7_synthe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11247120" cy="44988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4360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>
                <a:solidFill>
                  <a:srgbClr val="1A1A2E"/>
                </a:solidFill>
                <a:latin typeface="Calibri"/>
              </a:defRPr>
            </a:pPr>
            <a:r>
              <a:t>• Planted A*/D*/generalizable shift: the shift-encoder GENERALIZES (disc 0.66; perturbation-blind localization → 0.90) but graph-recovery AUROC stays at CHANCE (~0.5) — A is non-identifiable (shift+decoder are a sufficient statistic).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14 · Master results (representative arms, prior-off)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960120"/>
          <a:ext cx="114757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651760"/>
                <a:gridCol w="1554480"/>
                <a:gridCol w="1280160"/>
                <a:gridCol w="1234440"/>
                <a:gridCol w="2743200"/>
              </a:tblGrid>
              <a:tr h="2743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fix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disc_resid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S_Agap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crossTF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 marT="12700" marB="12700">
                    <a:solidFill>
                      <a:srgbClr val="1A1A2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sparse_con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 (best)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0.639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−0.05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ceiling; A idle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sparse_pertonly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0.621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−0.03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staged_con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 L0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0.611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−0.05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gain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nonlinSCM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nonlinear SCM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0.570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−0.08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worse; A anti-useful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staged_esm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staged L0 (no-con)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0.553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+0.05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no rescue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R4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pseudobulk+proj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0.502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+0.03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0.20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collapse; crossTF↑ probeA↑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whiten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whitened target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+0.06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 to chance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frozenD64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 decoder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0.02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 (basis span)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frozenD64_nonlin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frozen + nonlinear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0.500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+0.01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0.00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50" b="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collapse</a:t>
                      </a:r>
                    </a:p>
                  </a:txBody>
                  <a:tcPr marT="12700" marB="12700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365760" y="4709160"/>
            <a:ext cx="11475720" cy="1463040"/>
          </a:xfrm>
          <a:prstGeom prst="roundRect">
            <a:avLst/>
          </a:prstGeom>
          <a:solidFill>
            <a:srgbClr val="F5F5EA"/>
          </a:solidFill>
          <a:ln w="19050">
            <a:solidFill>
              <a:srgbClr val="D982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8463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A1A2E"/>
                </a:solidFill>
                <a:latin typeface="Calibri"/>
              </a:defRPr>
            </a:pPr>
            <a:r>
              <a:t>Reference: exp19 best (epsmix, prior-on) disc_resid 0.647 · Joung split-half discriminability ceiling ≈ 5% · CollecTRI prior-on 0.97 → prior-off 0.57 (memorization). A is used-but-not-useful wherever the gate opens; no arm both discriminates AND uses 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Full 22-arm table in docs/MASTER_ALL.md; figures in docs/figures/.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15 · Verdict &amp; the two real levers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05840"/>
            <a:ext cx="11430000" cy="1554480"/>
          </a:xfrm>
          <a:prstGeom prst="roundRect">
            <a:avLst/>
          </a:prstGeom>
          <a:solidFill>
            <a:srgbClr val="ECF7EC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46014"/>
                </a:solidFill>
                <a:latin typeface="Calibri"/>
              </a:defRPr>
            </a:pPr>
            <a:r>
              <a:t>CONCLUSION — The architecture is sound (it generalizes on ideal synthetic data). On Joung the binding constraint is ZERO-SHOT GENERALIZATION of the TF→effect map (models memorize seen TFs, disc 0.93→0.62). And A is NON-IDENTIFIABLE / redundant in this shift-based class — even with a planted graph — because the shift + decoder are a sufficient statistic.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B3D91"/>
                </a:solidFill>
                <a:latin typeface="Calibri"/>
              </a:defRPr>
            </a:pPr>
            <a:r>
              <a:t>Two levers (neither is "more SCM machinery on Joung")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246120"/>
            <a:ext cx="5623560" cy="2468880"/>
          </a:xfrm>
          <a:prstGeom prst="roundRect">
            <a:avLst/>
          </a:prstGeom>
          <a:solidFill>
            <a:srgbClr val="ECF1FB"/>
          </a:solidFill>
          <a:ln w="19050">
            <a:solidFill>
              <a:srgbClr val="217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171B5"/>
                </a:solidFill>
                <a:latin typeface="Calibri"/>
              </a:defRPr>
            </a:pPr>
            <a:r>
              <a:t>A · Multi-context (Norman)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8404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Add K562 CRISPRa as a 2nd context (modality token + ESM bridge).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Lets the model separate context-shared from TF-specific signal.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Directly targets the generalization ceiling. (JN0/JN1 in flight.)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246120"/>
            <a:ext cx="5623560" cy="2468880"/>
          </a:xfrm>
          <a:prstGeom prst="roundRect">
            <a:avLst/>
          </a:prstGeom>
          <a:solidFill>
            <a:srgbClr val="F3ECFB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383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6B3FA0"/>
                </a:solidFill>
                <a:latin typeface="Calibri"/>
              </a:defRPr>
            </a:pPr>
            <a:r>
              <a:t>B · Different identification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4048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Load-bearing A needs a setup where the shift CANNOT express propagation.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e.g. fit A to the interventional DISTRIBUTION (discrepancy-VAE).</a:t>
            </a:r>
          </a:p>
          <a:p>
            <a:pPr>
              <a:spcAft>
                <a:spcPts val="600"/>
              </a:spcAft>
              <a:defRPr sz="1300">
                <a:solidFill>
                  <a:srgbClr val="000000"/>
                </a:solidFill>
                <a:latin typeface="Calibri"/>
              </a:defRPr>
            </a:pPr>
            <a:r>
              <a:t>• Hard self-gate localization + frozen decoder tested; still redundant.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55664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Calibri"/>
              </a:defRPr>
            </a:pPr>
            <a:r>
              <a:t>In flight: J1/J2 (hard self-gate localization) + JN0/JN1 (Joung+Norman multi-context, 43 shared TFs).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