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  <a:latin typeface="Calibri"/>
              </a:defRPr>
            </a:pPr>
            <a:r>
              <a:t>CausalBioRL: Phase 1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"/>
              </a:defRPr>
            </a:pPr>
            <a:r>
              <a:t>Causal VAE with DAG-Structured Latent SCM</a:t>
            </a:r>
            <a:br/>
            <a:r>
              <a:t>for Perturbation Prediction on Norman et al. (2019)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Shervin Goudarzi  |  Goodarzi Lab  |  Arc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Dataset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Norman et al. 2019 (K562 CRISPRa)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104,507 cells x 33,694 genes (raw)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CRISPRa activation perturbations in K562 cells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11,183 control cells (NegCtrl guides)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105 single-gene perturbations (~200-1000 cells each)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131 two-gene combinatorial perturbations (held out)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Preprocessing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Library-size normalization (target_sum = 10,000)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Log1p transform: x -&gt; log(1 + x)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HVG selection: top 2,000 genes (Seurat v3)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PCA: 50 components (for state clustering)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Train / Val / Test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Split by GENE (not by cell) -- prevents data leakage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84 train genes (80%) -- used for perturbation consistency loss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10 validation genes (10%) -- for hyperparameter selection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11 test genes (10%) -- held out, never seen during training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Fixed seed = 42 for reproducibility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What Each Split Sees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319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ALL cells used for reconstruction loss (observational)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Only TRAIN gene perturbations used for interventional loss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Val/test gene perturbation data never enters training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All 131 combos fully held out (never in training)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Combo eval restricted to pairs where both genes are in train split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Architecture: Causal VAE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Forward Pass (Observational)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x [B, 2000]  --&gt;  Encoder (MLP: 2000-&gt;512-&gt;256)  --&gt;  (mu, log_var) [B, 64]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            --&gt;  Reparameterize  --&gt;  epsilon [B, 64]     (exogenous noise)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theta [64, 64]  --&gt;  Gumbel-Sigmoid(tau)  --&gt;  A [64, 64]  (soft DAG adjacency)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z = (I - A^T)^{-1} @ epsilon     (linear SCM solve)       [B, 64]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x_hat = D @ z + b                (linear decoder)          [B, 2000]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Key Design Choices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Linear SCM: z = (I - A^T)^{-1} epsilon -- solved via torch.linalg.solve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Linear decoder: x_hat = Dz + b -- enables GRN projection: G = D A D^T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Gumbel-Sigmoid: differentiable edge sampling with temperature tau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DAGMA acyclicity: h(A) = tr((I + s/d * A*A)^d) - d = 0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Theta init: N(-5, 0.25) -- graph starts ~0.7% dense, well-conditioned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64 latent programs, 16 DAG bootstrap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Training Losses (8 terms)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Reconstruction: MSE(x, x_hat)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KL divergence: beta-annealed (0.01 -&gt; 0.5)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DAGMA acyclicity: augmented Lagrangian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Sparsity: L1 on edge weights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Spectral stability: ReLU(sigma_max(A) - 0.95)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Decoder orthogonality: ||D^T D / norm - I||^2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Perturbation consistency: Eq. 4 (see next slide)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Biological prior: CollecTRI TF-target MarginRanking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Perturbation Consistency Loss: D-dagger + Multi-Mutilation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For each perturbation (x_ctrl, gene_g, x_pert), averaged over N DAG samples: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Step 1: Gene-space effect (precomputed from full dataset)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 dx = mean(x_pert) - mean(x_ctrl)                              [2000]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Step 2: Project to latent space via decoder pseudoinverse D-dagger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 dz = (D^T D + lambda*I)^{-1} D^T dx                          [64]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Step 3: Back-compute exogenous change through DAG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 d_epsilon = (I - A_n^T) @ dz                                  [64]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Step 4: Multi-column mutilation (do-calculus)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 affected = { i : |d_epsilon_i| &gt; threshold * max|d_epsilon| }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 A_tilde[:, affected] = 0       (zero incoming edges to affected programs)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Step 5: Apply full perturbation + solve mutilated SCM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 epsilon_tilde = epsilon_ctrl + d_epsilon                       (full shift)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 z_post = (I - A_tilde^T)^{-1} @ epsilon_tilde                 (DAG in gradient path)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 x_hat_pert = D @ z_post + b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L_pert = (1/N) sum_n || x_hat_pert_n - x_pert ||^2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Why mutilation matters: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Without mutilation: (I-A^T)^{-1} @ (I-A^T) = I -- DAG cancels out of loss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Mutilation breaks this: (I-A_tilde^T)^{-1} != (I-A^T)^{-1} -- DAG gets gradients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Tests: "does downstream propagation through A match observed perturbation?"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Why D-dagger (not argmax|D|):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669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argmax|D[gene,:]| uses ONE row of D -- fragile during early training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D-dagger uses FULL decoder geometry to project gene-space to latent-space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(I-A^T) further filters through DAG structure -- DAG-dependent targeting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Phase 1 Training Curves (150 epochs)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solidFill>
            <a:srgbClr val="F5F5F5"/>
          </a:solidFill>
          <a:ln w="19050"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9800"/>
              </a:spcBef>
              <a:defRPr sz="1200" i="1">
                <a:solidFill>
                  <a:srgbClr val="666666"/>
                </a:solidFill>
              </a:defRPr>
            </a:pPr>
            <a:r>
              <a:t>[INSERT: slides/training_curves_panel.png]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Phase A (epochs 1-20): reconstruction only, DAG frozen  |  Phase B (21-50): DAG activated, losses ramped  |  Phase C (51-150): full training, tau annealed 1.0-&gt;0.25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Evaluation: Perturbation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Single-Gene Prediction (test set, 7 genes)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For each held-out gene g: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1. Encode control cells -&gt; epsilon_ctrl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2. dx = de_single[g]  (observed effect)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3. D-dagger pipeline: dx -&gt; dz -&gt; d_eps -&gt; mutilate -&gt; solve -&gt; decode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4. pred_effect = mean(x_hat_pert) - mean(x_hat_ctrl)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5. Compare pred_effect to observed DE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Zero-shot: model NEVER saw these genes' perturbation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Combo Prediction (held-out, 39 combos)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For each combo (gene_A, gene_B):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1. Sequential intervention: do(A) then do(B)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2. do(A): D-dagger(dx_A) -&gt; mutilate -&gt; solve -&gt; z_after_A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3. Recover epsilon: eps_after_A = (I - A^T) @ z_after_A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4. do(B): D-dagger(dx_B) -&gt; mutilate -&gt; solve -&gt; z_after_AB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5. x_hat_combo = decode(z_after_AB)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Tests compositional generalization: singles -&gt; combos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Metrics (per perturbation)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DEG Detection (AUROC):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  Labels: sig_j = 1 if p_value_j &lt; 0.05  (Mann-Whitney U)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  Scores: |pred_effect_j|  for each gene j != g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  AUROC = area under ROC(TPR vs FPR)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  "Can model rank truly affected genes above unaffected?"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  Random baseline = 0.5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Effect Size Ranking (Spearman rho):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  rho = rank_corr( |pred_effect|, observed_effect_size )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  effect_size = |lfc| / sqrt((std_ctrl^2 + std_pert^2)/2)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  "Does model rank large effects above small effects?"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89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Direction Accuracy: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  For DEGs only (p &lt; 0.05):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  dir_acc = mean( sign(pred_j) == sign(obs_lfc_j) )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  "Does model get up/down regulation right?"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Pearson on DEGs: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  r = pearson( pred_effect[DEGs], obs_lfc[DEGs] )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  "Linear correlation of predicted vs observed magnitude"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Baselines: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  Correlation: |corr(gene_g, gene_j)| from control cells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nsolas"/>
              </a:defRPr>
            </a:pPr>
            <a:r>
              <a:t>  Additive (combos): de_single[A] + de_single[B]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Single-Gene Perturbation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669280" cy="3657600"/>
          </a:xfrm>
          <a:prstGeom prst="rect">
            <a:avLst/>
          </a:prstGeom>
          <a:solidFill>
            <a:srgbClr val="F5F5F5"/>
          </a:solidFill>
          <a:ln w="19050"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400"/>
              </a:spcBef>
              <a:defRPr sz="1200" i="1">
                <a:solidFill>
                  <a:srgbClr val="666666"/>
                </a:solidFill>
              </a:defRPr>
            </a:pPr>
            <a:r>
              <a:t>[INSERT: results/perturbation_eval/single_pert_comparison.png]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029200" cy="3657600"/>
          </a:xfrm>
          <a:prstGeom prst="rect">
            <a:avLst/>
          </a:prstGeom>
          <a:solidFill>
            <a:srgbClr val="F5F5F5"/>
          </a:solidFill>
          <a:ln w="19050"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400"/>
              </a:spcBef>
              <a:defRPr sz="1200" i="1">
                <a:solidFill>
                  <a:srgbClr val="666666"/>
                </a:solidFill>
              </a:defRPr>
            </a:pPr>
            <a:r>
              <a:t>[INSERT: results/perturbation_eval/single_test_scatter_auroc.png]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Summary (Test Set: 7 held-out genes)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                        AUROC     Spearman rho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Causal VAE (D-dagger)   0.933     0.670          &lt;-- zero-shot, never saw these genes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Correlation Baseline    0.677     --             &lt;-- just gene-gene co-expression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Learned GRN (D@A@D^T)   0.832     0.573          &lt;-- DAG structure alone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Model beats correlation on ALL 7/7 test genes (scatter: every point above diagonal)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Combinatorial Perturbation Prediction (Held-Out)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669280" cy="3200400"/>
          </a:xfrm>
          <a:prstGeom prst="rect">
            <a:avLst/>
          </a:prstGeom>
          <a:solidFill>
            <a:srgbClr val="F5F5F5"/>
          </a:solidFill>
          <a:ln w="19050"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1600"/>
              </a:spcBef>
              <a:defRPr sz="1200" i="1">
                <a:solidFill>
                  <a:srgbClr val="666666"/>
                </a:solidFill>
              </a:defRPr>
            </a:pPr>
            <a:r>
              <a:t>[INSERT: results/perturbation_eval/combo_pert_comparison.png]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303520" cy="3200400"/>
          </a:xfrm>
          <a:prstGeom prst="rect">
            <a:avLst/>
          </a:prstGeom>
          <a:solidFill>
            <a:srgbClr val="F5F5F5"/>
          </a:solidFill>
          <a:ln w="19050"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1600"/>
              </a:spcBef>
              <a:defRPr sz="1200" i="1">
                <a:solidFill>
                  <a:srgbClr val="666666"/>
                </a:solidFill>
              </a:defRPr>
            </a:pPr>
            <a:r>
              <a:t>[INSERT: results/perturbation_eval/combo_epistasis_scatter.png]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Combo Summary (39 combos, both genes in train split)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                    AUROC   Spearman  Pearson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Causal VAE          0.945   0.751     0.222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Additive Baseline   0.954   0.789     0.929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Correlation          0.727   0.471     --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Model AUROC close to additive (0.945 vs 0.954)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Model crushes correlation baseline (0.945 vs 0.727)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9377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Epistasis Stratification: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Low epistasis:   Model 0.945 vs Additive 0.955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Med epistasis:   Model 0.938 vs Additive 0.947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High epistasis:  Model 0.952 vs Additive 0.960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Pearson gap narrows with epistasis (-0.28 -&gt; -0.12)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nsolas"/>
              </a:defRPr>
            </a:pPr>
            <a:r>
              <a:t>  Additive advantage is in magnitude, not ranking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Takeaways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Phase 1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Single-gene prediction: 0.933 AUROC on held-out test (zero-shot)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Beats correlation baseline by +0.26 AUROC -- DAG adds real value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Combo AUROC competitive with additive (0.945 vs 0.954)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Model knows WHICH genes change, but magnitude calibration needs work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Pearson gap (0.22 vs 0.93) expected: additive uses real observed data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Epistasis stratification shows gap narrows on interactive combos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Phase 2: RL Planning (Next)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PPO agent plans multi-step perturbation sequences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Gene-level actions: 2000 genes x 2 directions = 4000 actions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State space: Leiden clusters in latent z-space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Bootstrapped DAG uncertainty for pessimistic reward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Joint VAE fine-tuning with policy-relevance upweighting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Evaluation: can the agent find optimal 2-3 step CRISPR protocols?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Calibri"/>
              </a:defRPr>
            </a:pPr>
            <a:r>
              <a:t>Open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Magnitude calibration: can we add a scaling/calibration step to match observed effect sizes?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Epistasis: with more training / larger datasets (Replogle), will model capture interactions better?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Foundation model encoder: will replacing MLP with ESM-based encoder improve generalization?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