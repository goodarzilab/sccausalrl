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55448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 i="0">
                <a:solidFill>
                  <a:srgbClr val="1A1A2E"/>
                </a:solidFill>
                <a:latin typeface="Calibri"/>
              </a:defRPr>
            </a:pPr>
            <a:r>
              <a:t>Causal-VAE World Model for the Joung TF Atlas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666666"/>
                </a:solidFill>
                <a:latin typeface="Calibri"/>
              </a:defRPr>
            </a:pPr>
            <a:r>
              <a:t>Developmental annotation (human fetal atlas) · singles-only training &amp; architectures ·</a:t>
            </a:r>
            <a:br/>
            <a:r>
              <a:t>held-out singles/combo results · epistasis · next-step 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2120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scCausalRL  |  exp17_joung_tfatlas + exp19_nonlinear_compose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 · Annotating the Joung TF Atlas with the Human Fetal Cell Atlas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914400"/>
            <a:ext cx="5577840" cy="461772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171B5"/>
                </a:solidFill>
                <a:latin typeface="Calibri"/>
              </a:defRPr>
            </a:pPr>
            <a:r>
              <a:t>Approach — shift alignment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2120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000000"/>
                </a:solidFill>
                <a:latin typeface="Calibri"/>
              </a:defRPr>
            </a:pPr>
            <a:r>
              <a:t>• Per TF: induced shift Δ = mean(OE cells) − mean(hESC control) — not the absolute profile (shared pluripotency baseline hides identity).</a:t>
            </a:r>
          </a:p>
          <a:p>
            <a:pPr>
              <a:spcAft>
                <a:spcPts val="500"/>
              </a:spcAft>
              <a:defRPr sz="1150">
                <a:solidFill>
                  <a:srgbClr val="000000"/>
                </a:solidFill>
                <a:latin typeface="Calibri"/>
              </a:defRPr>
            </a:pPr>
            <a:r>
              <a:t>• Reference: Cao 2020 human fetal atlas (GSE156793) — cell-level matched-norm signatures Dc (165 cell types).</a:t>
            </a:r>
          </a:p>
          <a:p>
            <a:pPr>
              <a:spcAft>
                <a:spcPts val="500"/>
              </a:spcAft>
              <a:defRPr sz="1150">
                <a:solidFill>
                  <a:srgbClr val="000000"/>
                </a:solidFill>
                <a:latin typeface="Calibri"/>
              </a:defRPr>
            </a:pPr>
            <a:r>
              <a:t>• Score = cos(Δ, Dc) after stripping the shared OE nuisance axes (top-4 SVD of the centred TF-shift matrix).</a:t>
            </a:r>
          </a:p>
          <a:p>
            <a:pPr>
              <a:spcAft>
                <a:spcPts val="500"/>
              </a:spcAft>
              <a:defRPr sz="1150">
                <a:solidFill>
                  <a:srgbClr val="000000"/>
                </a:solidFill>
                <a:latin typeface="Calibri"/>
              </a:defRPr>
            </a:pPr>
            <a:r>
              <a:t>• Human ref ⇒ NO mouse orthology step: direct symbol match keeps ~all Joung HVGs.</a:t>
            </a:r>
          </a:p>
          <a:p>
            <a:pPr>
              <a:spcAft>
                <a:spcPts val="500"/>
              </a:spcAft>
              <a:defRPr sz="1150">
                <a:solidFill>
                  <a:srgbClr val="000000"/>
                </a:solidFill>
                <a:latin typeface="Calibri"/>
              </a:defRPr>
            </a:pPr>
            <a:r>
              <a:t>• Method CHOSEN by recall against the Joung-paper experimentally-validated TF→fate set (right) — not a self-curated benchmark.</a:t>
            </a:r>
          </a:p>
        </p:txBody>
      </p:sp>
      <p:pic>
        <p:nvPicPr>
          <p:cNvPr id="7" name="Picture 6" descr="annot_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069080"/>
            <a:ext cx="5212080" cy="134042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989320" y="914400"/>
            <a:ext cx="5897880" cy="461772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72200" y="97840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7AE60"/>
                </a:solidFill>
                <a:latin typeface="Calibri"/>
              </a:defRPr>
            </a:pPr>
            <a:r>
              <a:t>Validated vs the Joung paper ground truth</a:t>
            </a:r>
          </a:p>
        </p:txBody>
      </p:sp>
      <p:pic>
        <p:nvPicPr>
          <p:cNvPr id="10" name="Picture 9" descr="exp17_annotation_rec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25880"/>
            <a:ext cx="4032504" cy="2240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26480" y="370332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Calibri"/>
              </a:defRPr>
            </a:pPr>
            <a:r>
              <a:t>• GT = 18 TFs Joung NOMINATED (Fig 3D) + experimentally VALIDATED (Fig 4); 17 scorable, same Cao reference.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Calibri"/>
              </a:defRPr>
            </a:pPr>
            <a:r>
              <a:t>• Reachable pool (82 of 172 types the assay can make): cosine_celllevel &amp; LRsig recall@1=0.31 (4.4× chance), r@5 0.69, median rank 3; shipped cosine_S6 lags (r@1 0.25).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Calibri"/>
              </a:defRPr>
            </a:pPr>
            <a:r>
              <a:t>• CellTypist per-cell ΔP fails (r@1 0.00; saturates to 1 label) — shared hESC baseline.</a:t>
            </a:r>
          </a:p>
          <a:p>
            <a:pPr>
              <a:spcAft>
                <a:spcPts val="400"/>
              </a:spcAft>
              <a:defRPr sz="1050">
                <a:solidFill>
                  <a:srgbClr val="000000"/>
                </a:solidFill>
                <a:latin typeface="Calibri"/>
              </a:defRPr>
            </a:pPr>
            <a:r>
              <a:t>• Production: cosine_celllevel on all 1084 TFs → 84 at q&lt;0.10, 109 top-decile (perm-FDR).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5715000"/>
            <a:ext cx="11612880" cy="868680"/>
          </a:xfrm>
          <a:prstGeom prst="roundRect">
            <a:avLst/>
          </a:prstGeom>
          <a:solidFill>
            <a:srgbClr val="ECF7EC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83387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Chosen: cosine on cell-level matched-norm human-fetal signatures. On the paper's OWN validated TF→fate set it reaches 4.4× chance top-1 (correct fate in top-2 by median rank) — far above the shipped aggregate signature; CellTypist per-cell saturates.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 · The Human Fetal Reference (Cao 2020 / Descartes, GSE156793)</a:t>
            </a:r>
          </a:p>
        </p:txBody>
      </p:sp>
      <p:pic>
        <p:nvPicPr>
          <p:cNvPr id="4" name="Picture 3" descr="human_fetal_atlas_u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565785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062472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experiments/figures/joung/human_fetal_atlas_umap.png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1005840"/>
            <a:ext cx="4480560" cy="49377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171B5"/>
                </a:solidFill>
                <a:latin typeface="Calibri"/>
              </a:defRPr>
            </a:pPr>
            <a:r>
              <a:t>Why this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50876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~4M cells, 121 fetal tissues, 15 organs (sci-RNA-seq3).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172 organ-cell-type signatures = the targets Δ_TF is aligned to.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Human → direct symbol match to the Joung 9,923-HVG axis (no mouse orthology loss).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Same reference family the Joung 2023 paper used to map TF profiles to fates → our annotation is comparable to the publication.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Caveat: midgestation fetal is slightly LATER than the early-progenitor states 7-day hESC OE reaches; trajectory tiers differ from MOCA.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2 · Training: Singles-Only on the Joung TF Atlas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914400"/>
            <a:ext cx="5852160" cy="512064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171B5"/>
                </a:solidFill>
                <a:latin typeface="Calibri"/>
              </a:defRPr>
            </a:pPr>
            <a:r>
              <a:t>Data &amp; vocabulary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Raw atlas dense 1.15M × 37,528 (≈172 GB) → chunk-preprocessed to a compact 9,923-gene axis.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Vocabulary (9,923 genes) = 8,506 combinatorial-screen genes ∪ 1,769 TF genes (the on-axis perturbable set).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Full training set: 1,144,579 cells × 9,923 genes; controls = GFP/mCherry cells (~127,813).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Trains on SINGLE TF over-expressions only; combos/triples fully held out for compositional eval.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43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3D91"/>
                </a:solidFill>
                <a:latin typeface="Calibri"/>
              </a:defRPr>
            </a:pPr>
            <a:r>
              <a:t>Splits (gene-level, seed 42)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709160"/>
          <a:ext cx="53949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371600"/>
                <a:gridCol w="2743200"/>
              </a:tblGrid>
              <a:tr h="2743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split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 TFs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train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1,351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fit the world model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val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169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early-stop / selection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test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169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held-out single-TF zero-shot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combos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44 pairs + 3 triples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held-out composition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355080" y="914400"/>
            <a:ext cx="5532120" cy="512064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0058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B3FA0"/>
                </a:solidFill>
                <a:latin typeface="Calibri"/>
              </a:defRPr>
            </a:pPr>
            <a:r>
              <a:t>The world model (shift-encoder + SCM do-operator)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41732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MLP encoder → linear-Gaussian SCM on latents → LINEAR decoder (kept linear for the GRN + CollecTRI prior).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A held-out TF is predicted zero-shot from its feature (control-PCA or ESM embedding) via the learned shift encoder.</a:t>
            </a:r>
          </a:p>
        </p:txBody>
      </p:sp>
      <p:pic>
        <p:nvPicPr>
          <p:cNvPr id="12" name="Picture 11" descr="wm_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880360"/>
            <a:ext cx="5394960" cy="27577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2 · Architectures Tried &amp; Loss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A1A2E"/>
                </a:solidFill>
                <a:latin typeface="Calibri"/>
              </a:defRPr>
            </a:pPr>
            <a:r>
              <a:t>Ablation grid (shift input × residual target × contrastive × latent)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23444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97280"/>
                <a:gridCol w="1005840"/>
                <a:gridCol w="1188720"/>
                <a:gridCol w="1554480"/>
              </a:tblGrid>
              <a:tr h="2743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variant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resid-MSE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contrastive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orig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ctrl-PCA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ESM-2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input swap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esm_resid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ESM-2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collapsed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esm_resid_con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ESM-2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collapsed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esm_con  ★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ESM-2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+MMD / +sep-head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ESM-2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exp17 (running)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u_gate / eps_mix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ESM-2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exp19 (running)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5720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3D91"/>
                </a:solidFill>
                <a:latin typeface="Calibri"/>
              </a:defRPr>
            </a:pPr>
            <a:r>
              <a:t>Non-learned baselines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937760"/>
            <a:ext cx="6675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context_mean (Δ=0), perturb_mean (drift), additive_obs (Σ observed singles; combos),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corr (gene–gene control correlation), coexp (k-NN of training-TF Δ in control-feature space).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914400"/>
            <a:ext cx="4572000" cy="548640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79" y="10058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171B5"/>
                </a:solidFill>
                <a:latin typeface="Calibri"/>
              </a:defRPr>
            </a:pPr>
            <a:r>
              <a:t>Losses</a:t>
            </a:r>
          </a:p>
        </p:txBody>
      </p:sp>
      <p:pic>
        <p:nvPicPr>
          <p:cNvPr id="10" name="Picture 9" descr="loss_to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17320"/>
            <a:ext cx="4480560" cy="12051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205740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A1A2E"/>
                </a:solidFill>
                <a:latin typeface="Calibri"/>
              </a:defRPr>
            </a:pPr>
            <a:r>
              <a:t>Perturbation (cascade) loss:</a:t>
            </a:r>
          </a:p>
        </p:txBody>
      </p:sp>
      <p:pic>
        <p:nvPicPr>
          <p:cNvPr id="12" name="Picture 11" descr="loss_p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2331720"/>
            <a:ext cx="4480560" cy="182295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98079" y="32918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A1A2E"/>
                </a:solidFill>
                <a:latin typeface="Calibri"/>
              </a:defRPr>
            </a:pPr>
            <a:r>
              <a:t>Drift-removed residual (specificity):</a:t>
            </a:r>
          </a:p>
        </p:txBody>
      </p:sp>
      <p:pic>
        <p:nvPicPr>
          <p:cNvPr id="14" name="Picture 13" descr="loss_dri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3566160"/>
            <a:ext cx="4480560" cy="13499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98079" y="42062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A1A2E"/>
                </a:solidFill>
                <a:latin typeface="Calibri"/>
              </a:defRPr>
            </a:pPr>
            <a:r>
              <a:t>Contrastive (InfoNCE, drift-removed):</a:t>
            </a:r>
          </a:p>
        </p:txBody>
      </p:sp>
      <p:pic>
        <p:nvPicPr>
          <p:cNvPr id="16" name="Picture 15" descr="loss_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4480560"/>
            <a:ext cx="4480560" cy="173011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98079" y="525780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2E"/>
                </a:solidFill>
                <a:latin typeface="Calibri"/>
              </a:defRPr>
            </a:pPr>
            <a:r>
              <a:t>InfoNCE makes each TF's predicted shift retrieve its OWN observed (drift-removed) shift — the specificity baselines cannot fake.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3 · Results — Held-out Single TFs (zero-shot)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7315200" cy="4572000"/>
          </a:xfrm>
          <a:prstGeom prst="rect">
            <a:avLst/>
          </a:prstGeom>
          <a:solidFill>
            <a:srgbClr val="FAFAFA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834639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666666"/>
                </a:solidFill>
                <a:latin typeface="Calibri"/>
              </a:defRPr>
            </a:pPr>
            <a:r>
              <a:t>[ FIGURE PLACEHOLDER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5595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experiments/figures/joung/exp17_singles_panels.png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960120"/>
            <a:ext cx="3931920" cy="49377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0515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171B5"/>
                </a:solidFill>
                <a:latin typeface="Calibri"/>
              </a:defRPr>
            </a:pPr>
            <a:r>
              <a:t>Takeaways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463040"/>
            <a:ext cx="3566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Raw Pearson / Spearman / DEG-AUROC are SATURATED by perturb_mean (drift) and coexp — not where the model adds value.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Model wins only on DRIFT-REMOVED Pearson + discrimination (the load-bearing, baseline-uncheatable metrics).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esm_con (ESM input + contrastive) is the winner: disc-resid 0.615 vs 0.50 chance; beats even the coexpression prior.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Residual-TARGET runs collapse (decoder conflict).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3 · Results — Combo / Triple Composition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5760720" cy="3657600"/>
          </a:xfrm>
          <a:prstGeom prst="rect">
            <a:avLst/>
          </a:prstGeom>
          <a:solidFill>
            <a:srgbClr val="FAFAFA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77439"/>
            <a:ext cx="5394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666666"/>
                </a:solidFill>
                <a:latin typeface="Calibri"/>
              </a:defRPr>
            </a:pPr>
            <a:r>
              <a:t>[ FIGURE PLACEHOLDER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645152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experiments/figures/joung/exp17_combos_panels.png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960120"/>
            <a:ext cx="5486400" cy="3657600"/>
          </a:xfrm>
          <a:prstGeom prst="rect">
            <a:avLst/>
          </a:prstGeom>
          <a:solidFill>
            <a:srgbClr val="FAFAFA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37743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666666"/>
                </a:solidFill>
                <a:latin typeface="Calibri"/>
              </a:defRPr>
            </a:pPr>
            <a:r>
              <a:t>[ FIGURE PLACEHOLDER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6451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experiments/figures/joung/exp17_pairs_vs_triples.png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4892040"/>
            <a:ext cx="11567160" cy="15544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D982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983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D9821E"/>
                </a:solidFill>
                <a:latin typeface="Calibri"/>
              </a:defRPr>
            </a:pPr>
            <a:r>
              <a:t>Takeaways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3949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do-op (mutilation) beats zero-shot additive by a small margin — but LOSES to the additive_obs oracle (Σ observed singles): 0.25 vs 0.13.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Only the contrastive models clear the perturb_mean floor on combos; no model achieves combo-level discrimination (≈ chance).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4 · Epistasis — Is the do-operator Capturing Synergy?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7589520" cy="3931920"/>
          </a:xfrm>
          <a:prstGeom prst="rect">
            <a:avLst/>
          </a:prstGeom>
          <a:solidFill>
            <a:srgbClr val="FAFAFA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7223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666666"/>
                </a:solidFill>
                <a:latin typeface="Calibri"/>
              </a:defRPr>
            </a:pPr>
            <a:r>
              <a:t>[ FIGURE PLACEHOLDER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919472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experiments/figures/joung/exp17_epistasis_quartiles.png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960120"/>
            <a:ext cx="3657600" cy="502920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0515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C0392B"/>
                </a:solidFill>
                <a:latin typeface="Calibri"/>
              </a:defRPr>
            </a:pPr>
            <a:r>
              <a:t>Verdict: epistasis-neutral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46304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vs the model's OWN additive, the do-op adds only ≤0.05 Pearson — and that edge does NOT grow with epistasis (shrinks for esm_con).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The apparent "gap closes on epistatic combos vs additive_obs" is the ORACLE degrading, not the model improving.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Consistent with exp14 (Norman): the operator is epistasis-NEUTRAL, not epistasis-capturing.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Singles-only training cannot learn interaction — needs combo data + interaction capacity.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5 · Next Steps — Architectures We're Pursuing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A1A2E"/>
                </a:solidFill>
                <a:latin typeface="Calibri"/>
              </a:defRPr>
            </a:pPr>
            <a:r>
              <a:t>Singles-trainable non-additivity (decoder stays linear → GRN/CollecTRI intact)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234440"/>
          <a:ext cx="11338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4206240"/>
                <a:gridCol w="1645920"/>
              </a:tblGrid>
              <a:tr h="2743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direction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changes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/ hypothesis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u_gate = MLP(S)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cross-program nonlinear gate on the do-op strength u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only singles-trainable non-additivity; gate sees multi-program single shifts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exp19 — training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nonlinear ε-mix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nonlinear cross-program exogenous mixing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same goal via the ε-combination; zero-init → starts at linear baseline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exp19 — training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u_gate + ε-mix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max singles-only non-additivity capacity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exp19 — training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separate residual head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decouple a pert decoder from the GRN decoder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test residual target without the decoder conflict; A still gets gradients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exp17 — training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re-add MMD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distributional set-matching term (exp14 recipe)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exp17 dropped MMD; restores perturbed-distribution shape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exp17 — training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human-fetal annotation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cosine on cell-level human-fetal sigs; paper-validated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4.4× chance top-1 on Joung's validated TF→fate set → fate-reward / RL identifiability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done (this deck)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combo-training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train on a subset of combos (Norman has ~107; Joung only 44)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the ONLY lever that truly unlocks epistasis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planned (Norman)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20040" y="5806440"/>
            <a:ext cx="11567160" cy="777240"/>
          </a:xfrm>
          <a:prstGeom prst="roundRect">
            <a:avLst/>
          </a:prstGeom>
          <a:solidFill>
            <a:srgbClr val="ECF1FB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943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RL readiness: clears the discrimination gate over trivial baselines (single-step RL OK); combinatorial planning needs epistasis → combo data + interaction capacity. additive_obs is an oracle ceiling, not a gate.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