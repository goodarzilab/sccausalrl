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1A1A2E"/>
                </a:solidFill>
                <a:latin typeface="Calibri"/>
              </a:defRPr>
            </a:pPr>
            <a:r>
              <a:t>Causal-VAE World Model for the Joung TF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Developmental annotation (human fetal atlas) · singles-only training &amp; architectures ·</a:t>
            </a:r>
            <a:br/>
            <a:r>
              <a:t>held-out singles/combo results · epistasis · next-step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scCausalRL  |  exp17_joung_tfatlas + exp19_nonlinear_compose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 · Annotating the Joung TF Atlas with the Human Fetal Cell Atlas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852160" cy="4617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Approach — shift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Per TF: induced shift Δ = mean(OE cells) − mean(hESC control) — not the absolute profile (shared pluripotency baseline hides identity).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Reference: Cao 2020 human fetal atlas (GSE156793) — 172 organ-cell-type expression signatures Dc = mean(type c) − mean over types.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Score = alignment(Δ, Dc) after stripping the shared OE nuisance axes (top-4 SVD of the centred TF-shift matrix).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Human reference ⇒ NO mouse→human orthology step: direct symbol match keeps ~all 9,923 Joung HVGs (vs the ~15k mouse-ortholog subset).</a:t>
            </a:r>
          </a:p>
        </p:txBody>
      </p:sp>
      <p:pic>
        <p:nvPicPr>
          <p:cNvPr id="7" name="Picture 6" descr="annot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86200"/>
            <a:ext cx="5486400" cy="13685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914400"/>
            <a:ext cx="5532120" cy="4617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7AE60"/>
                </a:solidFill>
                <a:latin typeface="Calibri"/>
              </a:defRPr>
            </a:pPr>
            <a:r>
              <a:t>Method shoot-out (chosen: cosine)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37960" y="14173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43000"/>
                <a:gridCol w="11430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#conf(&gt;0.12)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#conf(&gt;0.05)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 spec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agree↔cos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cosine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949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0.067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nnls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0.020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ols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0.02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37960" y="33832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TFs scored (n≥50 cells): 1084   |   cell types: 172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shared genes used: 6557  (discriminative half: 3278)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cosine specificity: median 0.067, q90 0.109, max 0.394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confidently annotated (spec&gt;0.12): 73 TFs  —  vs only 13 with the mouse MOCA reference.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cond(DᵀD)=1.1e+17 → collinear signatures, so unconstrained OLS/NNLS are ill-conditioned; cosine is the stable choice (README finding, re-confirmed).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715000"/>
            <a:ext cx="11612880" cy="868680"/>
          </a:xfrm>
          <a:prstGeom prst="roundRect">
            <a:avLst/>
          </a:prstGeom>
          <a:solidFill>
            <a:srgbClr val="ECF7EC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Chosen: cosine alignment + specificity gate. The human reference is the same family the Joung paper used; the upgrade vs mouse is gene retention (no orthology loss) → more confident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 · The Human Fetal Reference (Cao 2020 / Descartes, GSE156793)</a:t>
            </a:r>
          </a:p>
        </p:txBody>
      </p:sp>
      <p:pic>
        <p:nvPicPr>
          <p:cNvPr id="4" name="Picture 3" descr="human_fetal_atlas_u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5785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06247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experiments/figures/joung/human_fetal_atlas_umap.png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005840"/>
            <a:ext cx="4480560" cy="49377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Why this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50876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~4M cells, 121 fetal tissues, 15 organs (sci-RNA-seq3).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172 organ-cell-type signatures = the targets Δ_TF is aligned to.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Human → direct symbol match to the Joung 9,923-HVG axis (no mouse orthology loss).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Same reference family the Joung 2023 paper used to map TF profiles to fates → our annotation is comparable to the publication.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Caveat: midgestation fetal is slightly LATER than the early-progenitor states 7-day hESC OE reaches; trajectory tiers differ from MOCA.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 · Training: Singles-Only on the Joung TF Atlas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852160" cy="51206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Data &amp;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Raw atlas dense 1.15M × 37,528 (≈172 GB) → chunk-preprocessed to a compact 9,923-gene axis.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Vocabulary (9,923 genes) = 8,506 combinatorial-screen genes ∪ 1,769 TF genes (the on-axis perturbable set).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Full training set: 1,144,579 cells × 9,923 genes; controls = GFP/mCherry cells (~127,813).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Trains on SINGLE TF over-expressions only; combos/triples fully held out for compositional eval.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D91"/>
                </a:solidFill>
                <a:latin typeface="Calibri"/>
              </a:defRPr>
            </a:pPr>
            <a:r>
              <a:t>Splits (gene-level, seed 42)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709160"/>
          <a:ext cx="53949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274320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 TFs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1,351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fit the world model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early-stop / selection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169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held-out single-TF zero-shot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combos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 pairs + 3 triples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held-out composition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55080" y="914400"/>
            <a:ext cx="5532120" cy="51206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B3FA0"/>
                </a:solidFill>
                <a:latin typeface="Calibri"/>
              </a:defRPr>
            </a:pPr>
            <a:r>
              <a:t>The world model (shift-encoder + SCM do-operator)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MLP encoder → linear-Gaussian SCM on latents → LINEAR decoder (kept linear for the GRN + CollecTRI prior).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A held-out TF is predicted zero-shot from its feature (control-PCA or ESM embedding) via the learned shift encoder.</a:t>
            </a:r>
          </a:p>
        </p:txBody>
      </p:sp>
      <p:pic>
        <p:nvPicPr>
          <p:cNvPr id="12" name="Picture 11" descr="wm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80360"/>
            <a:ext cx="5394960" cy="27577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 · Architectures Tried &amp; Loss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  <a:latin typeface="Calibri"/>
              </a:defRPr>
            </a:pPr>
            <a:r>
              <a:t>Ablation grid (shift input × residual target × contrastive × latent)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1005840"/>
                <a:gridCol w="1188720"/>
                <a:gridCol w="1554480"/>
              </a:tblGrid>
              <a:tr h="274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resid-MSE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contrastive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orig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ctrl-PCA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ESM-2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input swap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esm_resid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ESM-2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collapsed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esm_resid_con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ESM-2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collapsed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esm_con  ★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ESM-2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+MMD / +sep-head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ESM-2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exp17 (running)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u_gate / eps_mix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ESM-2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exp19 (running)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3D91"/>
                </a:solidFill>
                <a:latin typeface="Calibri"/>
              </a:defRPr>
            </a:pPr>
            <a:r>
              <a:t>Non-learned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937760"/>
            <a:ext cx="6675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context_mean (Δ=0), perturb_mean (drift), additive_obs (Σ observed singles; combos),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corr (gene–gene control correlation), coexp (k-NN of training-TF Δ in control-feature space).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914400"/>
            <a:ext cx="4572000" cy="54864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005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Losses</a:t>
            </a:r>
          </a:p>
        </p:txBody>
      </p:sp>
      <p:pic>
        <p:nvPicPr>
          <p:cNvPr id="10" name="Picture 9" descr="loss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17320"/>
            <a:ext cx="4480560" cy="12051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20574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Perturbation (cascade) loss:</a:t>
            </a:r>
          </a:p>
        </p:txBody>
      </p:sp>
      <p:pic>
        <p:nvPicPr>
          <p:cNvPr id="12" name="Picture 11" descr="loss_p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331720"/>
            <a:ext cx="4480560" cy="18229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79" y="32918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Drift-removed residual (specificity):</a:t>
            </a:r>
          </a:p>
        </p:txBody>
      </p:sp>
      <p:pic>
        <p:nvPicPr>
          <p:cNvPr id="14" name="Picture 13" descr="loss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3566160"/>
            <a:ext cx="4480560" cy="13499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79" y="4206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Contrastive (InfoNCE, drift-removed):</a:t>
            </a:r>
          </a:p>
        </p:txBody>
      </p:sp>
      <p:pic>
        <p:nvPicPr>
          <p:cNvPr id="16" name="Picture 15" descr="loss_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4480560"/>
            <a:ext cx="4480560" cy="17301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98079" y="525780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InfoNCE makes each TF's predicted shift retrieve its OWN observed (drift-removed) shift — the specificity baselines cannot fake.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 · Results — Held-out Single TFs (zero-shot)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315200" cy="4572000"/>
          </a:xfrm>
          <a:prstGeom prst="rect">
            <a:avLst/>
          </a:prstGeom>
          <a:solidFill>
            <a:srgbClr val="FAFAFA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39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66666"/>
                </a:solidFill>
                <a:latin typeface="Calibri"/>
              </a:defRPr>
            </a:pPr>
            <a:r>
              <a:t>[ FIGURE PLACEHOLDER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5595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experiments/figures/joung/exp17_singles_panels.png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960120"/>
            <a:ext cx="3931920" cy="49377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051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6304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Raw Pearson / Spearman / DEG-AUROC are SATURATED by perturb_mean (drift) and coexp — not where the model adds value.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Model wins only on DRIFT-REMOVED Pearson + discrimination (the load-bearing, baseline-uncheatable metrics).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esm_con (ESM input + contrastive) is the winner: disc-resid 0.615 vs 0.50 chance; beats even the coexpression prior.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Residual-TARGET runs collapse (decoder conflict).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 · Results — Combo / Triple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76072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77439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66666"/>
                </a:solidFill>
                <a:latin typeface="Calibri"/>
              </a:defRPr>
            </a:pPr>
            <a:r>
              <a:t>[ FIGURE PLACEHOLDER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64515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experiments/figures/joung/exp17_combos_panels.png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60120"/>
            <a:ext cx="548640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77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66666"/>
                </a:solidFill>
                <a:latin typeface="Calibri"/>
              </a:defRPr>
            </a:pPr>
            <a:r>
              <a:t>[ FIGURE PLACEHOLDER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45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experiments/figures/joung/exp17_pairs_vs_triples.png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892040"/>
            <a:ext cx="11567160" cy="15544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821E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do-op (mutilation) beats zero-shot additive by a small margin — but LOSES to the additive_obs oracle (Σ observed singles): 0.25 vs 0.13.</a:t>
            </a:r>
          </a:p>
          <a:p>
            <a:pPr>
              <a:spcAft>
                <a:spcPts val="5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Only the contrastive models clear the perturb_mean floor on combos; no model achieves combo-level discrimination (≈ chance).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4 · Epistasis — Is the do-operator Capturing Synergy?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7589520" cy="3931920"/>
          </a:xfrm>
          <a:prstGeom prst="rect">
            <a:avLst/>
          </a:prstGeom>
          <a:solidFill>
            <a:srgbClr val="FAFAFA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66666"/>
                </a:solidFill>
                <a:latin typeface="Calibri"/>
              </a:defRPr>
            </a:pPr>
            <a:r>
              <a:t>[ FIGURE PLACEHOLDER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91947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experiments/figures/joung/exp17_epistasis_quartiles.png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960120"/>
            <a:ext cx="3657600" cy="5029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392B"/>
                </a:solidFill>
                <a:latin typeface="Calibri"/>
              </a:defRPr>
            </a:pPr>
            <a:r>
              <a:t>Verdict: epistasis-neutral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630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vs the model's OWN additive, the do-op adds only ≤0.05 Pearson — and that edge does NOT grow with epistasis (shrinks for esm_con).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The apparent "gap closes on epistatic combos vs additive_obs" is the ORACLE degrading, not the model improving.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Consistent with exp14 (Norman): the operator is epistasis-NEUTRAL, not epistasis-capturing.</a:t>
            </a:r>
          </a:p>
          <a:p>
            <a:pPr>
              <a:spcAft>
                <a:spcPts val="5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• Singles-only training cannot learn interaction — needs combo data + interaction capacity.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5 · Next Steps — Architectures We're Pursuing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  <a:latin typeface="Calibri"/>
              </a:defRPr>
            </a:pPr>
            <a:r>
              <a:t>Singles-trainable non-additivity (decoder stays linear → GRN/CollecTRI intact)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33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4206240"/>
                <a:gridCol w="1645920"/>
              </a:tblGrid>
              <a:tr h="274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changes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/ hypothesis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T="25400" marB="25400">
                    <a:solidFill>
                      <a:srgbClr val="0B3D9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u_gate = MLP(S)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cross-program nonlinear gate on the do-op strength u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only singles-trainable non-additivity; gate sees multi-program single shifts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exp19 — training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nonlinear ε-mix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nonlinear cross-program exogenous mixing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same goal via the ε-combination; zero-init → starts at linear baseline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exp19 — training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u_gate + ε-mix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max singles-only non-additivity capacity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exp19 — training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separate residual head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decouple a pert decoder from the GRN decoder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test residual target without the decoder conflict; A still gets gradients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exp17 — training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re-add MMD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distributional set-matching term (exp14 recipe)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exp17 dropped MMD; restores perturbed-distribution shape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exp17 — training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human-fetal annotation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swap mouse→human reference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more confident fate labels → enable fate-reward / RL identifiability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done (this deck)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combo-training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train on a subset of combos (Norman has ~107; Joung only 44)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the ONLY lever that truly unlocks epistasis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planned (Norman)</a:t>
                      </a:r>
                    </a:p>
                  </a:txBody>
                  <a:tcPr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806440"/>
            <a:ext cx="11567160" cy="77724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alibri"/>
              </a:defRPr>
            </a:pPr>
            <a:r>
              <a:t>RL readiness: clears the discrimination gate over trivial baselines (single-step RL OK); combinatorial planning needs epistasis → combo data + interaction capacity. additive_obs is an oracle ceiling, not a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