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 i="0">
                <a:solidFill>
                  <a:srgbClr val="FFFFFF"/>
                </a:solidFill>
                <a:latin typeface="Calibri"/>
              </a:defRPr>
            </a:pPr>
            <a:r>
              <a:t>Fixing Zero-Shot Generalization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718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 i="0">
                <a:solidFill>
                  <a:srgbClr val="C9D3E0"/>
                </a:solidFill>
                <a:latin typeface="Calibri"/>
              </a:defRPr>
            </a:pPr>
            <a:r>
              <a:t>MMD + DE-gene loss beat the copy baseline; combo-training captures epistasis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0292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 i="0">
                <a:solidFill>
                  <a:srgbClr val="8A93A8"/>
                </a:solidFill>
                <a:latin typeface="Calibri"/>
              </a:defRPr>
            </a:pPr>
            <a:r>
              <a:t>scCausalRL · exp20_load_bearing · lb9 sweep · Joung TF atlas (vocab-v2b), prior-off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i="0">
                <a:solidFill>
                  <a:srgbClr val="FFFFFF"/>
                </a:solidFill>
                <a:latin typeface="Calibri"/>
              </a:defRPr>
            </a:pPr>
            <a:r>
              <a:t>2 · Where we left off — the wall was generalization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005840"/>
            <a:ext cx="11430000" cy="1463040"/>
          </a:xfrm>
          <a:prstGeom prst="roundRect">
            <a:avLst/>
          </a:prstGeom>
          <a:solidFill>
            <a:srgbClr val="FBECEC"/>
          </a:solidFill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14300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1A1A2E"/>
                </a:solidFill>
                <a:latin typeface="Calibri"/>
              </a:defRPr>
            </a:pPr>
            <a:r>
              <a:t>exp20 verdict: the architecture is sound, but on Joung the binding constraint is ZERO-SHOT GENERALIZATION. The model memorized seen TFs (train allDEG 0.74) and fell to ~0 on held-out TFs — BELOW a dumb ESM-nearest-neighbour COPY baseline (allDEG 0.31). disc_resid was flattering but not correctness.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B3D91"/>
                </a:solidFill>
                <a:latin typeface="Calibri"/>
              </a:defRPr>
            </a:pPr>
            <a:r>
              <a:t>This deck — two questions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3200400"/>
            <a:ext cx="5623560" cy="2743200"/>
          </a:xfrm>
          <a:prstGeom prst="roundRect">
            <a:avLst/>
          </a:prstGeom>
          <a:solidFill>
            <a:srgbClr val="ECF1FB"/>
          </a:solidFill>
          <a:ln w="19050">
            <a:solidFill>
              <a:srgbClr val="2171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333756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2171B5"/>
                </a:solidFill>
                <a:latin typeface="Calibri"/>
              </a:defRPr>
            </a:pPr>
            <a:r>
              <a:t>Q1 · Beat the copy?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794760"/>
            <a:ext cx="51206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50">
                <a:solidFill>
                  <a:srgbClr val="000000"/>
                </a:solidFill>
                <a:latin typeface="Calibri"/>
              </a:defRPr>
            </a:pPr>
            <a:r>
              <a:t>• Can any objective/architecture change push held-out DE-gene prediction ABOVE the ESM-kNN copy?</a:t>
            </a:r>
          </a:p>
          <a:p>
            <a:pPr>
              <a:spcAft>
                <a:spcPts val="600"/>
              </a:spcAft>
              <a:defRPr sz="1350">
                <a:solidFill>
                  <a:srgbClr val="000000"/>
                </a:solidFill>
                <a:latin typeface="Calibri"/>
              </a:defRPr>
            </a:pPr>
            <a:r>
              <a:t>• Levers: MMD distribution-matching, drift-removed DE-gene MSE, ESM-noise, nonlinear-SCM, free decoder, retrieval anchor.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3200400"/>
            <a:ext cx="5623560" cy="2743200"/>
          </a:xfrm>
          <a:prstGeom prst="roundRect">
            <a:avLst/>
          </a:prstGeom>
          <a:solidFill>
            <a:srgbClr val="F3ECFB"/>
          </a:solidFill>
          <a:ln w="19050">
            <a:solidFill>
              <a:srgbClr val="6B3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333756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6B3FA0"/>
                </a:solidFill>
                <a:latin typeface="Calibri"/>
              </a:defRPr>
            </a:pPr>
            <a:r>
              <a:t>Q2 · Capture epistasis?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3794760"/>
            <a:ext cx="51206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50">
                <a:solidFill>
                  <a:srgbClr val="000000"/>
                </a:solidFill>
                <a:latin typeface="Calibri"/>
              </a:defRPr>
            </a:pPr>
            <a:r>
              <a:t>• Does the do-operator predict combinatorial (non-additive) TF effects — beyond simple additivity?</a:t>
            </a:r>
          </a:p>
          <a:p>
            <a:pPr>
              <a:spcAft>
                <a:spcPts val="600"/>
              </a:spcAft>
              <a:defRPr sz="1350">
                <a:solidFill>
                  <a:srgbClr val="000000"/>
                </a:solidFill>
                <a:latin typeface="Calibri"/>
              </a:defRPr>
            </a:pPr>
            <a:r>
              <a:t>• Compare singles-only vs combo-trained (50/50 split), same held-out combos.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55664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666666"/>
                </a:solidFill>
                <a:latin typeface="Calibri"/>
              </a:defRPr>
            </a:pPr>
            <a:r>
              <a:t>All eval is zero-shot on held-out TFs (gene-level split); metrics are drift-removed; prior OFF everywhere.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i="0">
                <a:solidFill>
                  <a:srgbClr val="FFFFFF"/>
                </a:solidFill>
                <a:latin typeface="Calibri"/>
              </a:defRPr>
            </a:pPr>
            <a:r>
              <a:t>3 · The dataset — Joung TF atlas, cleaned to vocab-v2b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B3D91"/>
                </a:solidFill>
                <a:latin typeface="Calibri"/>
              </a:defRPr>
            </a:pPr>
            <a:r>
              <a:t>How it was cleaned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65836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50">
                <a:solidFill>
                  <a:srgbClr val="000000"/>
                </a:solidFill>
                <a:latin typeface="Calibri"/>
              </a:defRPr>
            </a:pPr>
            <a:r>
              <a:t>• Rebuilt from the RAW counts atlas (37,528 genes) — the legacy 9,923-gene proc overlapped the new vocab by only 61%.</a:t>
            </a:r>
          </a:p>
          <a:p>
            <a:pPr>
              <a:spcAft>
                <a:spcPts val="600"/>
              </a:spcAft>
              <a:defRPr sz="1350">
                <a:solidFill>
                  <a:srgbClr val="000000"/>
                </a:solidFill>
                <a:latin typeface="Calibri"/>
              </a:defRPr>
            </a:pPr>
            <a:r>
              <a:t>• Gene axis = 4,000 Seurat-v3 highly-variable genes  ∪  curated fate markers  →  4,366 genes.</a:t>
            </a:r>
          </a:p>
          <a:p>
            <a:pPr>
              <a:spcAft>
                <a:spcPts val="600"/>
              </a:spcAft>
              <a:defRPr sz="1350">
                <a:solidFill>
                  <a:srgbClr val="000000"/>
                </a:solidFill>
                <a:latin typeface="Calibri"/>
              </a:defRPr>
            </a:pPr>
            <a:r>
              <a:t>• TF vocab: isoform-merged to 661 perturbations, then filtered to EFFECTIVE TFs — 166 inert/absent perturbations dropped (no measurable response).</a:t>
            </a:r>
          </a:p>
          <a:p>
            <a:pPr>
              <a:spcAft>
                <a:spcPts val="600"/>
              </a:spcAft>
              <a:defRPr sz="1350">
                <a:solidFill>
                  <a:srgbClr val="000000"/>
                </a:solidFill>
                <a:latin typeface="Calibri"/>
              </a:defRPr>
            </a:pPr>
            <a:r>
              <a:t>• Gene-level split of the 495 effective TFs → strict zero-shot held-out test set.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3886200"/>
          <a:ext cx="758952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011680"/>
                <a:gridCol w="2834640"/>
              </a:tblGrid>
              <a:tr h="274320"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</a:p>
                  </a:txBody>
                  <a:tcPr marT="12700" marB="12700">
                    <a:solidFill>
                      <a:srgbClr val="0B3D9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count</a:t>
                      </a:r>
                    </a:p>
                  </a:txBody>
                  <a:tcPr marT="12700" marB="12700">
                    <a:solidFill>
                      <a:srgbClr val="0B3D9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note</a:t>
                      </a:r>
                    </a:p>
                  </a:txBody>
                  <a:tcPr marT="12700" marB="12700">
                    <a:solidFill>
                      <a:srgbClr val="0B3D9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Genes (v2b vocab)</a:t>
                      </a:r>
                    </a:p>
                  </a:txBody>
                  <a:tcPr marT="12700" marB="127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4,366</a:t>
                      </a:r>
                    </a:p>
                  </a:txBody>
                  <a:tcPr marT="12700" marB="127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4000 Seurat-v3 HVG ∪ fate markers</a:t>
                      </a:r>
                    </a:p>
                  </a:txBody>
                  <a:tcPr marT="12700" marB="12700">
                    <a:solidFill>
                      <a:srgbClr val="F5F5F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TF perturbations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661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isoform-merged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  → effective (kept)</a:t>
                      </a:r>
                    </a:p>
                  </a:txBody>
                  <a:tcPr marT="12700" marB="127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495</a:t>
                      </a:r>
                    </a:p>
                  </a:txBody>
                  <a:tcPr marT="12700" marB="127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166 inert/absent dropped</a:t>
                      </a:r>
                    </a:p>
                  </a:txBody>
                  <a:tcPr marT="12700" marB="12700">
                    <a:solidFill>
                      <a:srgbClr val="F5F5F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  → train / val / test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396 / 50 / 49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zero-shot gene-level split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Cells (total)</a:t>
                      </a:r>
                    </a:p>
                  </a:txBody>
                  <a:tcPr marT="12700" marB="127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1,145,823</a:t>
                      </a:r>
                    </a:p>
                  </a:txBody>
                  <a:tcPr marT="12700" marB="127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</a:p>
                  </a:txBody>
                  <a:tcPr marT="12700" marB="12700">
                    <a:solidFill>
                      <a:srgbClr val="F5F5F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  → control (GFP/mCherry)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127,813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baseline for Δ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8321040" y="1097280"/>
            <a:ext cx="3474720" cy="4846320"/>
          </a:xfrm>
          <a:prstGeom prst="roundRect">
            <a:avLst/>
          </a:prstGeom>
          <a:solidFill>
            <a:srgbClr val="F3F6FC"/>
          </a:solidFill>
          <a:ln w="19050">
            <a:solidFill>
              <a:srgbClr val="2171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49640" y="12344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B3D91"/>
                </a:solidFill>
                <a:latin typeface="Calibri"/>
              </a:defRPr>
            </a:pPr>
            <a:r>
              <a:t>Δ, drift, residual</a:t>
            </a:r>
          </a:p>
        </p:txBody>
      </p:sp>
      <p:pic>
        <p:nvPicPr>
          <p:cNvPr id="9" name="Picture 8" descr="v_del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5360" y="1874519"/>
            <a:ext cx="2651760" cy="90964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595360" y="2395728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 i="1">
                <a:solidFill>
                  <a:srgbClr val="666666"/>
                </a:solidFill>
                <a:latin typeface="Calibri"/>
              </a:defRPr>
            </a:pPr>
            <a:r>
              <a:t>per-TF log-fold change</a:t>
            </a:r>
          </a:p>
        </p:txBody>
      </p:sp>
      <p:pic>
        <p:nvPicPr>
          <p:cNvPr id="11" name="Picture 10" descr="v_drif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0" y="2971800"/>
            <a:ext cx="2194560" cy="89923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595360" y="365760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 i="1">
                <a:solidFill>
                  <a:srgbClr val="666666"/>
                </a:solidFill>
                <a:latin typeface="Calibri"/>
              </a:defRPr>
            </a:pPr>
            <a:r>
              <a:t>shared differentiation drift (≈99% of signal)</a:t>
            </a:r>
          </a:p>
        </p:txBody>
      </p:sp>
      <p:pic>
        <p:nvPicPr>
          <p:cNvPr id="13" name="Picture 12" descr="v_resi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5360" y="4343400"/>
            <a:ext cx="2103120" cy="867537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595360" y="489204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 i="1">
                <a:solidFill>
                  <a:srgbClr val="666666"/>
                </a:solidFill>
                <a:latin typeface="Calibri"/>
              </a:defRPr>
            </a:pPr>
            <a:r>
              <a:t>TF-specific residual — what we score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455664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666666"/>
                </a:solidFill>
                <a:latin typeface="Calibri"/>
              </a:defRPr>
            </a:pPr>
            <a:r>
              <a:t>Same eval contract as exp17/19; load_joung lognorms raw counts downstream.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i="0">
                <a:solidFill>
                  <a:srgbClr val="FFFFFF"/>
                </a:solidFill>
                <a:latin typeface="Calibri"/>
              </a:defRPr>
            </a:pPr>
            <a:r>
              <a:t>4 · Metrics — and why disc_resid alone is misleading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1">
                <a:solidFill>
                  <a:srgbClr val="666666"/>
                </a:solidFill>
                <a:latin typeface="Calibri"/>
              </a:defRPr>
            </a:pPr>
            <a:r>
              <a:t>c(a,b) = mean-centered cosine.   r̂=pred−drift, r=obs−drift.   T = # held-out TFs (n=49).   KO = perturbed gene (excluded).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C0392B"/>
                </a:solidFill>
                <a:latin typeface="Calibri"/>
              </a:defRPr>
            </a:pPr>
            <a:r>
              <a:t>disc_resid  (TF discrimination, chance 0.5)</a:t>
            </a:r>
          </a:p>
        </p:txBody>
      </p:sp>
      <p:pic>
        <p:nvPicPr>
          <p:cNvPr id="6" name="Picture 5" descr="m_dis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28800"/>
            <a:ext cx="5120640" cy="80879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27889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2171B5"/>
                </a:solidFill>
                <a:latin typeface="Calibri"/>
              </a:defRPr>
            </a:pPr>
            <a:r>
              <a:t>Pnk  (whole-profile Pearson, chance 0)</a:t>
            </a:r>
          </a:p>
        </p:txBody>
      </p:sp>
      <p:pic>
        <p:nvPicPr>
          <p:cNvPr id="8" name="Picture 7" descr="m_pn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246120"/>
            <a:ext cx="4023360" cy="78417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42062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F9E89"/>
                </a:solidFill>
                <a:latin typeface="Calibri"/>
              </a:defRPr>
            </a:pPr>
            <a:r>
              <a:t>allDEG  (DE-gene Pearson, chance 0)</a:t>
            </a:r>
          </a:p>
        </p:txBody>
      </p:sp>
      <p:pic>
        <p:nvPicPr>
          <p:cNvPr id="10" name="Picture 9" descr="m_ade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4663440"/>
            <a:ext cx="4572000" cy="708729"/>
          </a:xfrm>
          <a:prstGeom prst="rect">
            <a:avLst/>
          </a:prstGeom>
        </p:spPr>
      </p:pic>
      <p:pic>
        <p:nvPicPr>
          <p:cNvPr id="11" name="Picture 10" descr="disc_vs_correctnes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63640" y="1097280"/>
            <a:ext cx="5623560" cy="4010209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365760" y="5669280"/>
            <a:ext cx="11475720" cy="685800"/>
          </a:xfrm>
          <a:prstGeom prst="roundRect">
            <a:avLst/>
          </a:prstGeom>
          <a:solidFill>
            <a:srgbClr val="F5F5EA"/>
          </a:solidFill>
          <a:ln w="19050">
            <a:solidFill>
              <a:srgbClr val="D982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5760720"/>
            <a:ext cx="11109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1" i="0">
                <a:solidFill>
                  <a:srgbClr val="1A1A2E"/>
                </a:solidFill>
                <a:latin typeface="Calibri"/>
              </a:defRPr>
            </a:pPr>
            <a:r>
              <a:t>WHY NOT disc alone: it rewards a TF fingerprint in low-magnitude BULK genes (≈ the training contrastive objective, circular) — across the sweep disc ANTI-correlates with correctness (right): the winner has LOW disc / HIGH allDEG; MMD=10 has HIGH disc / ~0 allDEG.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i="0">
                <a:solidFill>
                  <a:srgbClr val="FFFFFF"/>
                </a:solidFill>
                <a:latin typeface="Calibri"/>
              </a:defRPr>
            </a:pPr>
            <a:r>
              <a:t>5 · The lb9 sweep — generalization levers (prior-off)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960120"/>
          <a:ext cx="1147572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760"/>
                <a:gridCol w="5806440"/>
                <a:gridCol w="3017520"/>
              </a:tblGrid>
              <a:tr h="274320"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lever</a:t>
                      </a:r>
                    </a:p>
                  </a:txBody>
                  <a:tcPr marT="12700" marB="12700">
                    <a:solidFill>
                      <a:srgbClr val="0B3D9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what it adds</a:t>
                      </a:r>
                    </a:p>
                  </a:txBody>
                  <a:tcPr marT="12700" marB="12700">
                    <a:solidFill>
                      <a:srgbClr val="0B3D9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arms</a:t>
                      </a:r>
                    </a:p>
                  </a:txBody>
                  <a:tcPr marT="12700" marB="12700">
                    <a:solidFill>
                      <a:srgbClr val="0B3D9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MMD (distribution match)</a:t>
                      </a:r>
                    </a:p>
                  </a:txBody>
                  <a:tcPr marT="12700" marB="127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RBF-MMD(pred cells, obs cells) added to raw-Δ MSE</a:t>
                      </a:r>
                    </a:p>
                  </a:txBody>
                  <a:tcPr marT="12700" marB="127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MMD ∈ {0.25,0.5,1,2,5,10}</a:t>
                      </a:r>
                    </a:p>
                  </a:txBody>
                  <a:tcPr marT="12700" marB="12700">
                    <a:solidFill>
                      <a:srgbClr val="F5F5F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+ DE-gene MSE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drift-removed, DE-gene-masked, magnitude-preserving MSE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mmd1_deg2, mmd2_deg2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+ ESM-noise / wd</a:t>
                      </a:r>
                    </a:p>
                  </a:txBody>
                  <a:tcPr marT="12700" marB="127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jitter the ESM→shift map (anti-memorization) + weight-decay</a:t>
                      </a:r>
                    </a:p>
                  </a:txBody>
                  <a:tcPr marT="12700" marB="127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mmd1_esmnoise(_wd)</a:t>
                      </a:r>
                    </a:p>
                  </a:txBody>
                  <a:tcPr marT="12700" marB="12700">
                    <a:solidFill>
                      <a:srgbClr val="F5F5F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+ retrieval anchor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self-masked D†·residual memory blended into exogenous S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mmd1_retr_k20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nonlinear SCM</a:t>
                      </a:r>
                    </a:p>
                  </a:txBody>
                  <a:tcPr marT="12700" marB="127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z = φ(Aᵀz) + ε via Picard iteration</a:t>
                      </a:r>
                    </a:p>
                  </a:txBody>
                  <a:tcPr marT="12700" marB="127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nlSCM_mmd1, nlSCM_mmd2_deg2</a:t>
                      </a:r>
                    </a:p>
                  </a:txBody>
                  <a:tcPr marT="12700" marB="12700">
                    <a:solidFill>
                      <a:srgbClr val="F5F5F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free decoder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learnable linear D (vs GO-masked)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free357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combo training</a:t>
                      </a:r>
                    </a:p>
                  </a:txBody>
                  <a:tcPr marT="12700" marB="127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hold out TFs AND combos; do-op composes shifts</a:t>
                      </a:r>
                    </a:p>
                  </a:txBody>
                  <a:tcPr marT="12700" marB="127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Jcombo / JNcombo (50/50)</a:t>
                      </a:r>
                    </a:p>
                  </a:txBody>
                  <a:tcPr marT="12700" marB="12700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365760" y="3383280"/>
            <a:ext cx="11475720" cy="1051560"/>
          </a:xfrm>
          <a:prstGeom prst="roundRect">
            <a:avLst/>
          </a:prstGeom>
          <a:solidFill>
            <a:srgbClr val="ECF7EC"/>
          </a:solidFill>
          <a:ln w="1905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3493008"/>
            <a:ext cx="109728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146014"/>
                </a:solidFill>
                <a:latin typeface="Calibri"/>
              </a:defRPr>
            </a:pPr>
            <a:r>
              <a:t>Backbone (best from before): masked-GO decoder + structural do-op + L0 target gate + ESM shift-encoder + MSE + InfoNCE, prior OFF. MMD is the proven lever; DE-gene MSE is the diagnosed-missing term (nothing rewarded drift-removed DE-gene magnitude).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00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B3D91"/>
                </a:solidFill>
                <a:latin typeface="Calibri"/>
              </a:defRPr>
            </a:pPr>
            <a:r>
              <a:t>The do-operator (mutilated SCM solve)</a:t>
            </a:r>
          </a:p>
        </p:txBody>
      </p:sp>
      <p:pic>
        <p:nvPicPr>
          <p:cNvPr id="8" name="Picture 7" descr="do_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5303520"/>
            <a:ext cx="8412480" cy="7359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65760" y="6455664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666666"/>
                </a:solidFill>
                <a:latin typeface="Calibri"/>
              </a:defRPr>
            </a:pPr>
            <a:r>
              <a:t>Every arm = one knob change on the same backbone; judged on held-out drift-removed allDEG / Pnk + real−shuffled A-gain.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i="0">
                <a:solidFill>
                  <a:srgbClr val="FFFFFF"/>
                </a:solidFill>
                <a:latin typeface="Calibri"/>
              </a:defRPr>
            </a:pPr>
            <a:r>
              <a:t>6 · Eval across all arms — the winner beats the copy  (n=49)</a:t>
            </a:r>
          </a:p>
        </p:txBody>
      </p:sp>
      <p:pic>
        <p:nvPicPr>
          <p:cNvPr id="4" name="Picture 3" descr="lb9_rank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14400"/>
            <a:ext cx="8321040" cy="3838475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8823960" y="1005840"/>
            <a:ext cx="3063240" cy="4937760"/>
          </a:xfrm>
          <a:prstGeom prst="roundRect">
            <a:avLst/>
          </a:prstGeom>
          <a:solidFill>
            <a:srgbClr val="ECF7EC"/>
          </a:solidFill>
          <a:ln w="1905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06840" y="11430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46014"/>
                </a:solidFill>
                <a:latin typeface="Calibri"/>
              </a:defRPr>
            </a:pPr>
            <a:r>
              <a:t>Result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6840" y="1600200"/>
            <a:ext cx="27432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50">
                <a:solidFill>
                  <a:srgbClr val="1A1A2E"/>
                </a:solidFill>
                <a:latin typeface="Calibri"/>
              </a:defRPr>
            </a:pPr>
            <a:r>
              <a:t>• mmd1_deg2 BEATS ESM-kNN: allDEG 0.34 vs 0.31, Pnk 0.24 vs 0.21 (4000-ctrl, 3-seed).</a:t>
            </a:r>
          </a:p>
          <a:p>
            <a:pPr>
              <a:spcAft>
                <a:spcPts val="600"/>
              </a:spcAft>
              <a:defRPr sz="1250">
                <a:solidFill>
                  <a:srgbClr val="1A1A2E"/>
                </a:solidFill>
                <a:latin typeface="Calibri"/>
              </a:defRPr>
            </a:pPr>
            <a:r>
              <a:t>• MMD optimum ≈ 1–2; 0.25 and 10 collapse.</a:t>
            </a:r>
          </a:p>
          <a:p>
            <a:pPr>
              <a:spcAft>
                <a:spcPts val="600"/>
              </a:spcAft>
              <a:defRPr sz="1250">
                <a:solidFill>
                  <a:srgbClr val="1A1A2E"/>
                </a:solidFill>
                <a:latin typeface="Calibri"/>
              </a:defRPr>
            </a:pPr>
            <a:r>
              <a:t>• DE-gene MSE stacks (0.25→0.34).</a:t>
            </a:r>
          </a:p>
          <a:p>
            <a:pPr>
              <a:spcAft>
                <a:spcPts val="600"/>
              </a:spcAft>
              <a:defRPr sz="1250">
                <a:solidFill>
                  <a:srgbClr val="1A1A2E"/>
                </a:solidFill>
                <a:latin typeface="Calibri"/>
              </a:defRPr>
            </a:pPr>
            <a:r>
              <a:t>• retrieval anchor helped here (not on old backbone).</a:t>
            </a:r>
          </a:p>
          <a:p>
            <a:pPr>
              <a:spcAft>
                <a:spcPts val="600"/>
              </a:spcAft>
              <a:defRPr sz="1250">
                <a:solidFill>
                  <a:srgbClr val="1A1A2E"/>
                </a:solidFill>
                <a:latin typeface="Calibri"/>
              </a:defRPr>
            </a:pPr>
            <a:r>
              <a:t>• ESM-noise / free-decoder did NOT help.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55664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666666"/>
                </a:solidFill>
                <a:latin typeface="Calibri"/>
              </a:defRPr>
            </a:pPr>
            <a:r>
              <a:t>Bars ±1 SEM over n=49 held-out TFs; red dashed = ESM-kNN copy; disc chance 0.5, correlation chance 0.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i="0">
                <a:solidFill>
                  <a:srgbClr val="FFFFFF"/>
                </a:solidFill>
                <a:latin typeface="Calibri"/>
              </a:defRPr>
            </a:pPr>
            <a:r>
              <a:t>7 · Best prior-off model vs baselines + A is load-bearing  (n=49)</a:t>
            </a:r>
          </a:p>
        </p:txBody>
      </p:sp>
      <p:pic>
        <p:nvPicPr>
          <p:cNvPr id="4" name="Picture 3" descr="best_model_heldo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11247120" cy="444044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5806440"/>
            <a:ext cx="11338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1A1A2E"/>
                </a:solidFill>
                <a:latin typeface="Calibri"/>
              </a:defRPr>
            </a:pPr>
            <a:r>
              <a:t>• Left: the winner (MMD + DE-gene MSE) beats ESM-kNN / corr-blind / perturb-mean on Pnk &amp; allDEG (disc lower — the gameable metric).   Right: real A beats SHUFFLED ≈ zero A by +0.39 Pnk / +0.72 allDEG — the learned wiring is genuinely load-bearing.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i="0">
                <a:solidFill>
                  <a:srgbClr val="FFFFFF"/>
                </a:solidFill>
                <a:latin typeface="Calibri"/>
              </a:defRPr>
            </a:pPr>
            <a:r>
              <a:t>8 · Per-TF prediction — broadly competitive with the copy  (n=49)</a:t>
            </a:r>
          </a:p>
        </p:txBody>
      </p:sp>
      <p:pic>
        <p:nvPicPr>
          <p:cNvPr id="4" name="Picture 3" descr="pertf_heldout_40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1720" y="960120"/>
            <a:ext cx="8218333" cy="48920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5989320"/>
            <a:ext cx="11338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50">
                <a:solidFill>
                  <a:srgbClr val="1A1A2E"/>
                </a:solidFill>
                <a:latin typeface="Calibri"/>
              </a:defRPr>
            </a:pPr>
            <a:r>
              <a:t>• masked-GO+MMD is positive on 33/49 held-out TFs (ESM-kNN 34/49) with fewer negatives — a broad win, not a few lucky TFs; the old retrfix "top" model was positive on only 15/49.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i="0">
                <a:solidFill>
                  <a:srgbClr val="FFFFFF"/>
                </a:solidFill>
                <a:latin typeface="Calibri"/>
              </a:defRPr>
            </a:pPr>
            <a:r>
              <a:t>9 · Epistasis — singles vs combo-trained (same held-out combos)</a:t>
            </a:r>
          </a:p>
        </p:txBody>
      </p:sp>
      <p:pic>
        <p:nvPicPr>
          <p:cNvPr id="4" name="Picture 3" descr="epistasis_singles_vs_comb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11247120" cy="4646863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365760" y="5715000"/>
            <a:ext cx="11475720" cy="914400"/>
          </a:xfrm>
          <a:prstGeom prst="roundRect">
            <a:avLst/>
          </a:prstGeom>
          <a:solidFill>
            <a:srgbClr val="F3ECFB"/>
          </a:solidFill>
          <a:ln w="19050">
            <a:solidFill>
              <a:srgbClr val="6B3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585216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6B3FA0"/>
                </a:solidFill>
                <a:latin typeface="Calibri"/>
              </a:defRPr>
            </a:pPr>
            <a:r>
              <a:t>Combo-training (50/50 split) makes the do-operator BEAT additive AND predict which pairs are synergistic: epistasis r jumps −0.49 → +0.91. The mutilated-SCM machinery earns its keep only once trained on combos.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55664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666666"/>
                </a:solidFill>
                <a:latin typeface="Calibri"/>
              </a:defRPr>
            </a:pPr>
            <a:r>
              <a:t>Same MMD backbone, same dataset (Joung), same held-out combos; do_mean = per-single-mean u composer.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i="0">
                <a:solidFill>
                  <a:srgbClr val="FFFFFF"/>
                </a:solidFill>
                <a:latin typeface="Calibri"/>
              </a:defRPr>
            </a:pPr>
            <a:r>
              <a:t>10 · Master results (held-out, drift-removed)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B3D91"/>
                </a:solidFill>
                <a:latin typeface="Calibri"/>
              </a:defRPr>
            </a:pPr>
            <a:r>
              <a:t>Singles — n=49 held-out TFs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325880"/>
          <a:ext cx="8001000" cy="24688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777240"/>
                <a:gridCol w="777240"/>
                <a:gridCol w="868680"/>
                <a:gridCol w="1600200"/>
                <a:gridCol w="1691640"/>
              </a:tblGrid>
              <a:tr h="274319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arm</a:t>
                      </a:r>
                    </a:p>
                  </a:txBody>
                  <a:tcPr marT="12700" marB="12700">
                    <a:solidFill>
                      <a:srgbClr val="0B3D9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disc</a:t>
                      </a:r>
                    </a:p>
                  </a:txBody>
                  <a:tcPr marT="12700" marB="12700">
                    <a:solidFill>
                      <a:srgbClr val="0B3D9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Pnk</a:t>
                      </a:r>
                    </a:p>
                  </a:txBody>
                  <a:tcPr marT="12700" marB="12700">
                    <a:solidFill>
                      <a:srgbClr val="0B3D9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allDEG</a:t>
                      </a:r>
                    </a:p>
                  </a:txBody>
                  <a:tcPr marT="12700" marB="12700">
                    <a:solidFill>
                      <a:srgbClr val="0B3D9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A-gain (ΔallDEG)</a:t>
                      </a:r>
                    </a:p>
                  </a:txBody>
                  <a:tcPr marT="12700" marB="12700">
                    <a:solidFill>
                      <a:srgbClr val="0B3D9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verdict</a:t>
                      </a:r>
                    </a:p>
                  </a:txBody>
                  <a:tcPr marT="12700" marB="12700">
                    <a:solidFill>
                      <a:srgbClr val="0B3D91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mmd1_deg2  (winner)</a:t>
                      </a:r>
                    </a:p>
                  </a:txBody>
                  <a:tcPr marT="12700" marB="127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0.54</a:t>
                      </a:r>
                    </a:p>
                  </a:txBody>
                  <a:tcPr marT="12700" marB="127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0.24</a:t>
                      </a:r>
                    </a:p>
                  </a:txBody>
                  <a:tcPr marT="12700" marB="127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0.35</a:t>
                      </a:r>
                    </a:p>
                  </a:txBody>
                  <a:tcPr marT="12700" marB="127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+0.72</a:t>
                      </a:r>
                    </a:p>
                  </a:txBody>
                  <a:tcPr marT="12700" marB="127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beats copy</a:t>
                      </a:r>
                    </a:p>
                  </a:txBody>
                  <a:tcPr marT="12700" marB="12700">
                    <a:solidFill>
                      <a:srgbClr val="F5F5F5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mmd2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0.58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0.20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0.33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+0.66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≈ copy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mmd2_deg2</a:t>
                      </a:r>
                    </a:p>
                  </a:txBody>
                  <a:tcPr marT="12700" marB="127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0.58</a:t>
                      </a:r>
                    </a:p>
                  </a:txBody>
                  <a:tcPr marT="12700" marB="127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0.22</a:t>
                      </a:r>
                    </a:p>
                  </a:txBody>
                  <a:tcPr marT="12700" marB="127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0.29</a:t>
                      </a:r>
                    </a:p>
                  </a:txBody>
                  <a:tcPr marT="12700" marB="127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+0.66</a:t>
                      </a:r>
                    </a:p>
                  </a:txBody>
                  <a:tcPr marT="12700" marB="127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marT="12700" marB="12700">
                    <a:solidFill>
                      <a:srgbClr val="F5F5F5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nlSCM_mmd2_deg2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0.59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0.20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0.29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+0.63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biggest A-gain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mmd1_retr_k20</a:t>
                      </a:r>
                    </a:p>
                  </a:txBody>
                  <a:tcPr marT="12700" marB="127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0.63</a:t>
                      </a:r>
                    </a:p>
                  </a:txBody>
                  <a:tcPr marT="12700" marB="127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0.24</a:t>
                      </a:r>
                    </a:p>
                  </a:txBody>
                  <a:tcPr marT="12700" marB="127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0.29</a:t>
                      </a:r>
                    </a:p>
                  </a:txBody>
                  <a:tcPr marT="12700" marB="127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+0.64</a:t>
                      </a:r>
                    </a:p>
                  </a:txBody>
                  <a:tcPr marT="12700" marB="127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anchor helped</a:t>
                      </a:r>
                    </a:p>
                  </a:txBody>
                  <a:tcPr marT="12700" marB="12700">
                    <a:solidFill>
                      <a:srgbClr val="F5F5F5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masked_go+MMD (base)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0.56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0.20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0.27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+0.62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prior best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free357 (free decoder)</a:t>
                      </a:r>
                    </a:p>
                  </a:txBody>
                  <a:tcPr marT="12700" marB="127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0.58</a:t>
                      </a:r>
                    </a:p>
                  </a:txBody>
                  <a:tcPr marT="12700" marB="127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0.13</a:t>
                      </a:r>
                    </a:p>
                  </a:txBody>
                  <a:tcPr marT="12700" marB="127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0.23</a:t>
                      </a:r>
                    </a:p>
                  </a:txBody>
                  <a:tcPr marT="12700" marB="127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+0.56</a:t>
                      </a:r>
                    </a:p>
                  </a:txBody>
                  <a:tcPr marT="12700" marB="127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worse; keep mask</a:t>
                      </a:r>
                    </a:p>
                  </a:txBody>
                  <a:tcPr marT="12700" marB="12700">
                    <a:solidFill>
                      <a:srgbClr val="F5F5F5"/>
                    </a:solidFill>
                  </a:tcPr>
                </a:tc>
              </a:tr>
              <a:tr h="274327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ESM-kNN copy (baseline)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0.60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0.21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0.31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the bar to beat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863840" y="9144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6B3FA0"/>
                </a:solidFill>
                <a:latin typeface="Calibri"/>
              </a:defRPr>
            </a:pPr>
            <a:r>
              <a:t>Combo — n=11 held-out combos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863840" y="1325880"/>
          <a:ext cx="3977639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4519"/>
                <a:gridCol w="1051560"/>
                <a:gridCol w="1051560"/>
              </a:tblGrid>
              <a:tr h="27432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</a:p>
                  </a:txBody>
                  <a:tcPr marT="12700" marB="12700">
                    <a:solidFill>
                      <a:srgbClr val="6B3F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singles</a:t>
                      </a:r>
                    </a:p>
                  </a:txBody>
                  <a:tcPr marT="12700" marB="12700">
                    <a:solidFill>
                      <a:srgbClr val="6B3F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combo</a:t>
                      </a:r>
                    </a:p>
                  </a:txBody>
                  <a:tcPr marT="12700" marB="12700">
                    <a:solidFill>
                      <a:srgbClr val="6B3FA0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do_mean pearson</a:t>
                      </a:r>
                    </a:p>
                  </a:txBody>
                  <a:tcPr marT="12700" marB="127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0.20</a:t>
                      </a:r>
                    </a:p>
                  </a:txBody>
                  <a:tcPr marT="12700" marB="127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0.37</a:t>
                      </a:r>
                    </a:p>
                  </a:txBody>
                  <a:tcPr marT="12700" marB="12700">
                    <a:solidFill>
                      <a:srgbClr val="F5F5F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do_mean allDEG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0.30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0.56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vs model-additive</a:t>
                      </a:r>
                    </a:p>
                  </a:txBody>
                  <a:tcPr marT="12700" marB="127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tie</a:t>
                      </a:r>
                    </a:p>
                  </a:txBody>
                  <a:tcPr marT="12700" marB="127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+0.06</a:t>
                      </a:r>
                    </a:p>
                  </a:txBody>
                  <a:tcPr marT="12700" marB="12700">
                    <a:solidFill>
                      <a:srgbClr val="F5F5F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predicts epistasis r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−0.49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+0.91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863840" y="3794760"/>
            <a:ext cx="3977639" cy="2286000"/>
          </a:xfrm>
          <a:prstGeom prst="roundRect">
            <a:avLst/>
          </a:prstGeom>
          <a:solidFill>
            <a:srgbClr val="F5F5EA"/>
          </a:solidFill>
          <a:ln w="19050">
            <a:solidFill>
              <a:srgbClr val="D982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0" y="3931920"/>
            <a:ext cx="36118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1A1A2E"/>
                </a:solidFill>
                <a:latin typeface="Calibri"/>
              </a:defRPr>
            </a:pPr>
            <a:r>
              <a:t>Two wins:</a:t>
            </a:r>
            <a:br/>
            <a:r>
              <a:t>(1) MMD + DE-gene MSE is the first arm to beat the dumb copy on held-out DE prediction.</a:t>
            </a:r>
            <a:br/>
            <a:r>
              <a:t>(2) combo-training lifts the do-op from additive (r ≈ 0) to genuine epistasis prediction (r ≈ +0.9).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55664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666666"/>
                </a:solidFill>
                <a:latin typeface="Calibri"/>
              </a:defRPr>
            </a:pPr>
            <a:r>
              <a:t>Singles @4000 ctrl / 3 seeds; A-gain = real − shuffled A. Combo: 50/50 split, small n → wide CI (effect large &amp; consistent across Joung + joint arms).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i="0">
                <a:solidFill>
                  <a:srgbClr val="FFFFFF"/>
                </a:solidFill>
                <a:latin typeface="Calibri"/>
              </a:defRPr>
            </a:pPr>
            <a:r>
              <a:t>11 · Next steps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005840"/>
            <a:ext cx="11430000" cy="1188720"/>
          </a:xfrm>
          <a:prstGeom prst="roundRect">
            <a:avLst/>
          </a:prstGeom>
          <a:solidFill>
            <a:srgbClr val="ECF7EC"/>
          </a:solidFill>
          <a:ln w="1905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14300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146014"/>
                </a:solidFill>
                <a:latin typeface="Calibri"/>
              </a:defRPr>
            </a:pPr>
            <a:r>
              <a:t>Bottom line: we broke the generalization wall (beat the copy) and cracked epistasis (combo-training). Both with the two diagnosed levers — MMD (distribution match) + drift-removed DE-gene MSE — on a load-bearing 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2468880"/>
            <a:ext cx="5623560" cy="1645920"/>
          </a:xfrm>
          <a:prstGeom prst="roundRect">
            <a:avLst/>
          </a:prstGeom>
          <a:solidFill>
            <a:srgbClr val="ECF1FB"/>
          </a:solidFill>
          <a:ln w="19050">
            <a:solidFill>
              <a:srgbClr val="2171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2578608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171B5"/>
                </a:solidFill>
                <a:latin typeface="Calibri"/>
              </a:defRPr>
            </a:pPr>
            <a:r>
              <a:t>Confirm &amp; tighten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017520"/>
            <a:ext cx="5212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 i="0">
                <a:solidFill>
                  <a:srgbClr val="1A1A2E"/>
                </a:solidFill>
                <a:latin typeface="Calibri"/>
              </a:defRPr>
            </a:pPr>
            <a:r>
              <a:t>Widen the DE-gene MSE weight sweep around the winner (×1/3/5) + seeds; confirm the copy-beating margin with more held-out TFs.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2468880"/>
            <a:ext cx="5623560" cy="1645920"/>
          </a:xfrm>
          <a:prstGeom prst="roundRect">
            <a:avLst/>
          </a:prstGeom>
          <a:solidFill>
            <a:srgbClr val="ECF1FB"/>
          </a:solidFill>
          <a:ln w="19050">
            <a:solidFill>
              <a:srgbClr val="2171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2578608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171B5"/>
                </a:solidFill>
                <a:latin typeface="Calibri"/>
              </a:defRPr>
            </a:pPr>
            <a:r>
              <a:t>Scale combos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3017520"/>
            <a:ext cx="5212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 i="0">
                <a:solidFill>
                  <a:srgbClr val="1A1A2E"/>
                </a:solidFill>
                <a:latin typeface="Calibri"/>
              </a:defRPr>
            </a:pPr>
            <a:r>
              <a:t>More held-out combos (small n now) + joint Joung+Norman; push epistasis r and the high-|ε| quartile.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4297680"/>
            <a:ext cx="5623560" cy="1645920"/>
          </a:xfrm>
          <a:prstGeom prst="roundRect">
            <a:avLst/>
          </a:prstGeom>
          <a:solidFill>
            <a:srgbClr val="ECF1FB"/>
          </a:solidFill>
          <a:ln w="19050">
            <a:solidFill>
              <a:srgbClr val="2171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4407408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171B5"/>
                </a:solidFill>
                <a:latin typeface="Calibri"/>
              </a:defRPr>
            </a:pPr>
            <a:r>
              <a:t>Generalization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4846320"/>
            <a:ext cx="5212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 i="0">
                <a:solidFill>
                  <a:srgbClr val="1A1A2E"/>
                </a:solidFill>
                <a:latin typeface="Calibri"/>
              </a:defRPr>
            </a:pPr>
            <a:r>
              <a:t>Cross-dataset pretraining of the ESM→response map; the ESM-smoothness idea needs a better scale / gate-head coverage.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4297680"/>
            <a:ext cx="5623560" cy="1645920"/>
          </a:xfrm>
          <a:prstGeom prst="roundRect">
            <a:avLst/>
          </a:prstGeom>
          <a:solidFill>
            <a:srgbClr val="ECF1FB"/>
          </a:solidFill>
          <a:ln w="19050">
            <a:solidFill>
              <a:srgbClr val="2171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4407408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171B5"/>
                </a:solidFill>
                <a:latin typeface="Calibri"/>
              </a:defRPr>
            </a:pPr>
            <a:r>
              <a:t>Design / RL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4846320"/>
            <a:ext cx="5212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 i="0">
                <a:solidFill>
                  <a:srgbClr val="1A1A2E"/>
                </a:solidFill>
                <a:latin typeface="Calibri"/>
              </a:defRPr>
            </a:pPr>
            <a:r>
              <a:t>With a combo model that predicts synergy, plan TF cocktails toward target fates over the frozen world model.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6455664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666666"/>
                </a:solidFill>
                <a:latin typeface="Calibri"/>
              </a:defRPr>
            </a:pPr>
            <a:r>
              <a:t>exp20_load_bearing · lb9 sweep · prior-off · Joung vocab-v2b.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